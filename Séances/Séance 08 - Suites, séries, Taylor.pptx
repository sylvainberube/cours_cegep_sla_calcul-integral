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9" r:id="rId7"/>
    <p:sldId id="260" r:id="rId8"/>
    <p:sldId id="268" r:id="rId9"/>
    <p:sldId id="262" r:id="rId10"/>
    <p:sldId id="263" r:id="rId11"/>
    <p:sldId id="264" r:id="rId12"/>
    <p:sldId id="265" r:id="rId13"/>
    <p:sldId id="261" r:id="rId14"/>
    <p:sldId id="266" r:id="rId15"/>
    <p:sldId id="267" r:id="rId16"/>
    <p:sldId id="258"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119" d="100"/>
          <a:sy n="119" d="100"/>
        </p:scale>
        <p:origin x="27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fr-CA"/>
          </a:p>
        </p:txBody>
      </p:sp>
      <p:sp>
        <p:nvSpPr>
          <p:cNvPr id="4" name="Espace réservé de la date 3"/>
          <p:cNvSpPr>
            <a:spLocks noGrp="1"/>
          </p:cNvSpPr>
          <p:nvPr>
            <p:ph type="dt" sz="half" idx="10"/>
          </p:nvPr>
        </p:nvSpPr>
        <p:spPr/>
        <p:txBody>
          <a:bodyPr/>
          <a:lstStyle/>
          <a:p>
            <a:fld id="{B5F3EDFF-A25D-48D1-BAFF-A95E39B37C4D}" type="datetimeFigureOut">
              <a:rPr lang="fr-CA" smtClean="0"/>
              <a:t>2024-02-24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871783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B5F3EDFF-A25D-48D1-BAFF-A95E39B37C4D}" type="datetimeFigureOut">
              <a:rPr lang="fr-CA" smtClean="0"/>
              <a:t>2024-02-24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4136021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B5F3EDFF-A25D-48D1-BAFF-A95E39B37C4D}" type="datetimeFigureOut">
              <a:rPr lang="fr-CA" smtClean="0"/>
              <a:t>2024-02-24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3218186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B5F3EDFF-A25D-48D1-BAFF-A95E39B37C4D}" type="datetimeFigureOut">
              <a:rPr lang="fr-CA" smtClean="0"/>
              <a:t>2024-02-24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2755516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B5F3EDFF-A25D-48D1-BAFF-A95E39B37C4D}" type="datetimeFigureOut">
              <a:rPr lang="fr-CA" smtClean="0"/>
              <a:t>2024-02-24</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834806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B5F3EDFF-A25D-48D1-BAFF-A95E39B37C4D}" type="datetimeFigureOut">
              <a:rPr lang="fr-CA" smtClean="0"/>
              <a:t>2024-02-24</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300950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5F3EDFF-A25D-48D1-BAFF-A95E39B37C4D}" type="datetimeFigureOut">
              <a:rPr lang="fr-CA" smtClean="0"/>
              <a:t>2024-02-24</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795251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B5F3EDFF-A25D-48D1-BAFF-A95E39B37C4D}" type="datetimeFigureOut">
              <a:rPr lang="fr-CA" smtClean="0"/>
              <a:t>2024-02-24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3190195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B5F3EDFF-A25D-48D1-BAFF-A95E39B37C4D}" type="datetimeFigureOut">
              <a:rPr lang="fr-CA" smtClean="0"/>
              <a:t>2024-02-24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2070875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B5F3EDFF-A25D-48D1-BAFF-A95E39B37C4D}" type="datetimeFigureOut">
              <a:rPr lang="fr-CA" smtClean="0"/>
              <a:t>2024-02-24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3507122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B5F3EDFF-A25D-48D1-BAFF-A95E39B37C4D}" type="datetimeFigureOut">
              <a:rPr lang="fr-CA" smtClean="0"/>
              <a:t>2024-02-24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7F137C13-E703-4E13-9D49-3670F86854AC}" type="slidenum">
              <a:rPr lang="fr-CA" smtClean="0"/>
              <a:t>‹N°›</a:t>
            </a:fld>
            <a:endParaRPr lang="fr-CA"/>
          </a:p>
        </p:txBody>
      </p:sp>
    </p:spTree>
    <p:extLst>
      <p:ext uri="{BB962C8B-B14F-4D97-AF65-F5344CB8AC3E}">
        <p14:creationId xmlns:p14="http://schemas.microsoft.com/office/powerpoint/2010/main" val="735032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F3EDFF-A25D-48D1-BAFF-A95E39B37C4D}" type="datetimeFigureOut">
              <a:rPr lang="fr-CA" smtClean="0"/>
              <a:t>2024-02-24</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137C13-E703-4E13-9D49-3670F86854AC}" type="slidenum">
              <a:rPr lang="fr-CA" smtClean="0"/>
              <a:t>‹N°›</a:t>
            </a:fld>
            <a:endParaRPr lang="fr-CA"/>
          </a:p>
        </p:txBody>
      </p:sp>
    </p:spTree>
    <p:extLst>
      <p:ext uri="{BB962C8B-B14F-4D97-AF65-F5344CB8AC3E}">
        <p14:creationId xmlns:p14="http://schemas.microsoft.com/office/powerpoint/2010/main" val="4088125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video" Target="https://www.youtube.com/embed/3d6DsjIBzJ4?start=12&amp;feature=oembed"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934452" y="1122947"/>
            <a:ext cx="10323095" cy="4612106"/>
          </a:xfrm>
        </p:spPr>
        <p:txBody>
          <a:bodyPr>
            <a:noAutofit/>
          </a:bodyPr>
          <a:lstStyle/>
          <a:p>
            <a:r>
              <a:rPr lang="fr-CA" sz="8000" b="1" cap="small" dirty="0">
                <a:solidFill>
                  <a:srgbClr val="7030A0"/>
                </a:solidFill>
                <a:latin typeface="Cambria" panose="02040503050406030204" pitchFamily="18" charset="0"/>
                <a:ea typeface="Cambria" panose="02040503050406030204" pitchFamily="18" charset="0"/>
              </a:rPr>
              <a:t>Suites</a:t>
            </a:r>
            <a:r>
              <a:rPr lang="fr-CA" sz="8000" b="1" cap="small" dirty="0">
                <a:solidFill>
                  <a:schemeClr val="bg1">
                    <a:lumMod val="50000"/>
                  </a:schemeClr>
                </a:solidFill>
                <a:latin typeface="Cambria" panose="02040503050406030204" pitchFamily="18" charset="0"/>
                <a:ea typeface="Cambria" panose="02040503050406030204" pitchFamily="18" charset="0"/>
              </a:rPr>
              <a:t>,</a:t>
            </a:r>
            <a:br>
              <a:rPr lang="fr-CA" sz="8000" b="1" cap="small" dirty="0">
                <a:latin typeface="Cambria" panose="02040503050406030204" pitchFamily="18" charset="0"/>
                <a:ea typeface="Cambria" panose="02040503050406030204" pitchFamily="18" charset="0"/>
              </a:rPr>
            </a:br>
            <a:r>
              <a:rPr lang="fr-CA" sz="8000" b="1" cap="small" dirty="0">
                <a:solidFill>
                  <a:srgbClr val="C00000"/>
                </a:solidFill>
                <a:latin typeface="Cambria" panose="02040503050406030204" pitchFamily="18" charset="0"/>
                <a:ea typeface="Cambria" panose="02040503050406030204" pitchFamily="18" charset="0"/>
              </a:rPr>
              <a:t>Séries numériques</a:t>
            </a:r>
            <a:r>
              <a:rPr lang="fr-CA" sz="8000" b="1" cap="small" dirty="0">
                <a:solidFill>
                  <a:schemeClr val="bg1">
                    <a:lumMod val="50000"/>
                  </a:schemeClr>
                </a:solidFill>
                <a:latin typeface="Cambria" panose="02040503050406030204" pitchFamily="18" charset="0"/>
                <a:ea typeface="Cambria" panose="02040503050406030204" pitchFamily="18" charset="0"/>
              </a:rPr>
              <a:t>,</a:t>
            </a:r>
            <a:br>
              <a:rPr lang="fr-CA" sz="8000" b="1" cap="small" dirty="0">
                <a:latin typeface="Cambria" panose="02040503050406030204" pitchFamily="18" charset="0"/>
                <a:ea typeface="Cambria" panose="02040503050406030204" pitchFamily="18" charset="0"/>
              </a:rPr>
            </a:br>
            <a:r>
              <a:rPr lang="fr-CA" sz="8000" b="1" cap="small" dirty="0">
                <a:solidFill>
                  <a:srgbClr val="00B050"/>
                </a:solidFill>
                <a:latin typeface="Cambria" panose="02040503050406030204" pitchFamily="18" charset="0"/>
                <a:ea typeface="Cambria" panose="02040503050406030204" pitchFamily="18" charset="0"/>
              </a:rPr>
              <a:t>Séries de Taylor</a:t>
            </a:r>
            <a:r>
              <a:rPr lang="fr-CA" sz="8000" b="1" cap="small" dirty="0">
                <a:solidFill>
                  <a:schemeClr val="bg1">
                    <a:lumMod val="50000"/>
                  </a:schemeClr>
                </a:solidFill>
                <a:latin typeface="Cambria" panose="02040503050406030204" pitchFamily="18" charset="0"/>
                <a:ea typeface="Cambria" panose="02040503050406030204" pitchFamily="18" charset="0"/>
              </a:rPr>
              <a:t>,</a:t>
            </a:r>
            <a:br>
              <a:rPr lang="fr-CA" sz="8000" b="1" cap="small" dirty="0">
                <a:latin typeface="Cambria" panose="02040503050406030204" pitchFamily="18" charset="0"/>
                <a:ea typeface="Cambria" panose="02040503050406030204" pitchFamily="18" charset="0"/>
              </a:rPr>
            </a:br>
            <a:r>
              <a:rPr lang="fr-CA" sz="8000" b="1" cap="all" dirty="0">
                <a:latin typeface="Cambria" panose="02040503050406030204" pitchFamily="18" charset="0"/>
                <a:ea typeface="Cambria" panose="02040503050406030204" pitchFamily="18" charset="0"/>
              </a:rPr>
              <a:t>késako ?</a:t>
            </a:r>
          </a:p>
        </p:txBody>
      </p:sp>
    </p:spTree>
    <p:extLst>
      <p:ext uri="{BB962C8B-B14F-4D97-AF65-F5344CB8AC3E}">
        <p14:creationId xmlns:p14="http://schemas.microsoft.com/office/powerpoint/2010/main" val="3774824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858254"/>
          </a:xfrm>
        </p:spPr>
        <p:txBody>
          <a:bodyPr>
            <a:normAutofit/>
          </a:bodyPr>
          <a:lstStyle/>
          <a:p>
            <a:r>
              <a:rPr lang="fr-CA" b="1" dirty="0">
                <a:solidFill>
                  <a:srgbClr val="7030A0"/>
                </a:solidFill>
                <a:latin typeface="Cambria" panose="02040503050406030204" pitchFamily="18" charset="0"/>
                <a:ea typeface="Cambria" panose="02040503050406030204" pitchFamily="18" charset="0"/>
              </a:rPr>
              <a:t>Suites | Approximer une racine carrée</a:t>
            </a:r>
          </a:p>
        </p:txBody>
      </p:sp>
      <mc:AlternateContent xmlns:mc="http://schemas.openxmlformats.org/markup-compatibility/2006">
        <mc:Choice xmlns:a14="http://schemas.microsoft.com/office/drawing/2010/main" Requires="a14">
          <p:sp>
            <p:nvSpPr>
              <p:cNvPr id="3" name="Espace réservé du contenu 2"/>
              <p:cNvSpPr>
                <a:spLocks noGrp="1"/>
              </p:cNvSpPr>
              <p:nvPr>
                <p:ph idx="1"/>
              </p:nvPr>
            </p:nvSpPr>
            <p:spPr>
              <a:xfrm>
                <a:off x="0" y="954504"/>
                <a:ext cx="12192000" cy="5903495"/>
              </a:xfrm>
            </p:spPr>
            <p:txBody>
              <a:bodyPr>
                <a:noAutofit/>
              </a:bodyPr>
              <a:lstStyle/>
              <a:p>
                <a:pPr marL="0" indent="0">
                  <a:lnSpc>
                    <a:spcPct val="110000"/>
                  </a:lnSpc>
                  <a:buNone/>
                </a:pPr>
                <a:r>
                  <a:rPr lang="fr-CA" sz="2200" dirty="0">
                    <a:latin typeface="Cambria" panose="02040503050406030204" pitchFamily="18" charset="0"/>
                    <a:ea typeface="Cambria" panose="02040503050406030204" pitchFamily="18" charset="0"/>
                  </a:rPr>
                  <a:t>Approximer la racine carrée de </a:t>
                </a:r>
                <a14:m>
                  <m:oMath xmlns:m="http://schemas.openxmlformats.org/officeDocument/2006/math">
                    <m:r>
                      <a:rPr lang="fr-CA" sz="2200" b="0" i="1" smtClean="0">
                        <a:solidFill>
                          <a:srgbClr val="0070C0"/>
                        </a:solidFill>
                        <a:latin typeface="Cambria Math" panose="02040503050406030204" pitchFamily="18" charset="0"/>
                        <a:ea typeface="Cambria" panose="02040503050406030204" pitchFamily="18" charset="0"/>
                      </a:rPr>
                      <m:t>𝑏</m:t>
                    </m:r>
                  </m:oMath>
                </a14:m>
                <a:r>
                  <a:rPr lang="fr-CA" sz="2200" dirty="0">
                    <a:latin typeface="Cambria" panose="02040503050406030204" pitchFamily="18" charset="0"/>
                    <a:ea typeface="Cambria" panose="02040503050406030204" pitchFamily="18" charset="0"/>
                  </a:rPr>
                  <a:t>.</a:t>
                </a:r>
              </a:p>
              <a:p>
                <a:pPr marL="0" indent="0">
                  <a:lnSpc>
                    <a:spcPct val="110000"/>
                  </a:lnSpc>
                  <a:buNone/>
                </a:pPr>
                <a:r>
                  <a:rPr lang="fr-CA" sz="2200" dirty="0">
                    <a:latin typeface="Cambria" panose="02040503050406030204" pitchFamily="18" charset="0"/>
                    <a:ea typeface="Cambria" panose="02040503050406030204" pitchFamily="18" charset="0"/>
                  </a:rPr>
                  <a:t>1. Poser </a:t>
                </a:r>
                <a14:m>
                  <m:oMath xmlns:m="http://schemas.openxmlformats.org/officeDocument/2006/math">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1</m:t>
                        </m:r>
                      </m:sub>
                    </m:sSub>
                    <m:r>
                      <a:rPr lang="fr-CA" sz="2200" b="0" i="1" smtClean="0">
                        <a:latin typeface="Cambria Math" panose="02040503050406030204" pitchFamily="18" charset="0"/>
                        <a:ea typeface="Cambria" panose="02040503050406030204" pitchFamily="18" charset="0"/>
                      </a:rPr>
                      <m:t>=1</m:t>
                    </m:r>
                  </m:oMath>
                </a14:m>
                <a:endParaRPr lang="fr-CA" sz="2200" dirty="0">
                  <a:latin typeface="Cambria" panose="02040503050406030204" pitchFamily="18" charset="0"/>
                  <a:ea typeface="Cambria" panose="02040503050406030204" pitchFamily="18" charset="0"/>
                </a:endParaRPr>
              </a:p>
              <a:p>
                <a:pPr marL="0" indent="0">
                  <a:lnSpc>
                    <a:spcPct val="110000"/>
                  </a:lnSpc>
                  <a:buNone/>
                </a:pPr>
                <a:r>
                  <a:rPr lang="fr-CA" sz="2200" b="0" dirty="0">
                    <a:latin typeface="Cambria" panose="02040503050406030204" pitchFamily="18" charset="0"/>
                    <a:ea typeface="Cambria" panose="02040503050406030204" pitchFamily="18" charset="0"/>
                  </a:rPr>
                  <a:t>2. Calculer les termes de la suite </a:t>
                </a:r>
                <a14:m>
                  <m:oMath xmlns:m="http://schemas.openxmlformats.org/officeDocument/2006/math">
                    <m:sSubSup>
                      <m:sSubSupPr>
                        <m:ctrlPr>
                          <a:rPr lang="fr-CA" sz="2200" i="1" smtClean="0">
                            <a:latin typeface="Cambria Math" panose="02040503050406030204" pitchFamily="18" charset="0"/>
                            <a:ea typeface="Cambria" panose="02040503050406030204" pitchFamily="18" charset="0"/>
                          </a:rPr>
                        </m:ctrlPr>
                      </m:sSubSupPr>
                      <m:e>
                        <m:d>
                          <m:dPr>
                            <m:begChr m:val=""/>
                            <m:endChr m:val="|"/>
                            <m:ctrlPr>
                              <a:rPr lang="fr-CA" sz="2200" i="1">
                                <a:latin typeface="Cambria Math" panose="02040503050406030204" pitchFamily="18" charset="0"/>
                                <a:ea typeface="Cambria" panose="02040503050406030204" pitchFamily="18" charset="0"/>
                              </a:rPr>
                            </m:ctrlPr>
                          </m:dPr>
                          <m:e>
                            <m:d>
                              <m:dPr>
                                <m:begChr m:val="{"/>
                                <m:endChr m:val="}"/>
                                <m:ctrlPr>
                                  <a:rPr lang="fr-CA" sz="2200" i="1">
                                    <a:latin typeface="Cambria Math" panose="02040503050406030204" pitchFamily="18" charset="0"/>
                                    <a:ea typeface="Cambria" panose="02040503050406030204" pitchFamily="18" charset="0"/>
                                  </a:rPr>
                                </m:ctrlPr>
                              </m:dPr>
                              <m:e>
                                <m:sSub>
                                  <m:sSubPr>
                                    <m:ctrlPr>
                                      <a:rPr lang="fr-CA" sz="2200" i="1">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i="1">
                                        <a:latin typeface="Cambria Math" panose="02040503050406030204" pitchFamily="18" charset="0"/>
                                        <a:ea typeface="Cambria" panose="02040503050406030204" pitchFamily="18" charset="0"/>
                                      </a:rPr>
                                      <m:t>𝑛</m:t>
                                    </m:r>
                                  </m:sub>
                                </m:sSub>
                              </m:e>
                            </m:d>
                          </m:e>
                        </m:d>
                      </m:e>
                      <m:sub>
                        <m:r>
                          <a:rPr lang="fr-CA" sz="2200" b="0" i="1" smtClean="0">
                            <a:latin typeface="Cambria Math" panose="02040503050406030204" pitchFamily="18" charset="0"/>
                            <a:ea typeface="Cambria" panose="02040503050406030204" pitchFamily="18" charset="0"/>
                          </a:rPr>
                          <m:t>𝑛</m:t>
                        </m:r>
                        <m:r>
                          <a:rPr lang="fr-CA" sz="2200" b="0" i="1" smtClean="0">
                            <a:latin typeface="Cambria Math" panose="02040503050406030204" pitchFamily="18" charset="0"/>
                            <a:ea typeface="Cambria" panose="02040503050406030204" pitchFamily="18" charset="0"/>
                          </a:rPr>
                          <m:t>=1</m:t>
                        </m:r>
                      </m:sub>
                      <m:sup>
                        <m:r>
                          <a:rPr lang="fr-CA" sz="2200" b="0" i="1" smtClean="0">
                            <a:latin typeface="Cambria Math" panose="02040503050406030204" pitchFamily="18" charset="0"/>
                            <a:ea typeface="Cambria" panose="02040503050406030204" pitchFamily="18" charset="0"/>
                          </a:rPr>
                          <m:t>∞</m:t>
                        </m:r>
                      </m:sup>
                    </m:sSubSup>
                  </m:oMath>
                </a14:m>
                <a:r>
                  <a:rPr lang="fr-CA" sz="2200" i="1" dirty="0">
                    <a:latin typeface="Cambria Math" panose="02040503050406030204" pitchFamily="18" charset="0"/>
                    <a:ea typeface="Cambria" panose="02040503050406030204" pitchFamily="18" charset="0"/>
                  </a:rPr>
                  <a:t> </a:t>
                </a:r>
                <a:r>
                  <a:rPr lang="fr-CA" sz="2200" dirty="0">
                    <a:latin typeface="Cambria Math" panose="02040503050406030204" pitchFamily="18" charset="0"/>
                    <a:ea typeface="Cambria" panose="02040503050406030204" pitchFamily="18" charset="0"/>
                  </a:rPr>
                  <a:t>à l’aide de la récurrence</a:t>
                </a:r>
              </a:p>
              <a:p>
                <a:pPr marL="457200" lvl="1" indent="0">
                  <a:lnSpc>
                    <a:spcPct val="110000"/>
                  </a:lnSpc>
                  <a:buNone/>
                </a:pPr>
                <a14:m>
                  <m:oMathPara xmlns:m="http://schemas.openxmlformats.org/officeDocument/2006/math">
                    <m:oMathParaPr>
                      <m:jc m:val="left"/>
                    </m:oMathParaPr>
                    <m:oMath xmlns:m="http://schemas.openxmlformats.org/officeDocument/2006/math">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𝑛</m:t>
                          </m:r>
                          <m:r>
                            <a:rPr lang="fr-CA" sz="2200" b="0" i="1" smtClean="0">
                              <a:latin typeface="Cambria Math" panose="02040503050406030204" pitchFamily="18" charset="0"/>
                              <a:ea typeface="Cambria" panose="02040503050406030204" pitchFamily="18" charset="0"/>
                            </a:rPr>
                            <m:t>+1</m:t>
                          </m:r>
                        </m:sub>
                      </m:sSub>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latin typeface="Cambria Math" panose="02040503050406030204" pitchFamily="18" charset="0"/>
                              <a:ea typeface="Cambria" panose="02040503050406030204" pitchFamily="18" charset="0"/>
                            </a:rPr>
                            <m:t>1</m:t>
                          </m:r>
                        </m:num>
                        <m:den>
                          <m:r>
                            <a:rPr lang="fr-CA" sz="2200" b="0" i="1" smtClean="0">
                              <a:latin typeface="Cambria Math" panose="02040503050406030204" pitchFamily="18" charset="0"/>
                              <a:ea typeface="Cambria" panose="02040503050406030204" pitchFamily="18" charset="0"/>
                            </a:rPr>
                            <m:t>2</m:t>
                          </m:r>
                        </m:den>
                      </m:f>
                      <m:d>
                        <m:dPr>
                          <m:ctrlPr>
                            <a:rPr lang="fr-CA" sz="2200" b="0" i="1" smtClean="0">
                              <a:latin typeface="Cambria Math" panose="02040503050406030204" pitchFamily="18" charset="0"/>
                              <a:ea typeface="Cambria" panose="02040503050406030204" pitchFamily="18" charset="0"/>
                            </a:rPr>
                          </m:ctrlPr>
                        </m:dPr>
                        <m:e>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𝑛</m:t>
                              </m:r>
                            </m:sub>
                          </m:sSub>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solidFill>
                                    <a:srgbClr val="0070C0"/>
                                  </a:solidFill>
                                  <a:latin typeface="Cambria Math" panose="02040503050406030204" pitchFamily="18" charset="0"/>
                                  <a:ea typeface="Cambria" panose="02040503050406030204" pitchFamily="18" charset="0"/>
                                </a:rPr>
                                <m:t>𝑏</m:t>
                              </m:r>
                            </m:num>
                            <m:den>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𝑛</m:t>
                                  </m:r>
                                </m:sub>
                              </m:sSub>
                            </m:den>
                          </m:f>
                        </m:e>
                      </m:d>
                    </m:oMath>
                  </m:oMathPara>
                </a14:m>
                <a:endParaRPr lang="fr-CA" sz="2200" b="0" dirty="0">
                  <a:latin typeface="Cambria" panose="02040503050406030204" pitchFamily="18" charset="0"/>
                  <a:ea typeface="Cambria" panose="02040503050406030204" pitchFamily="18" charset="0"/>
                </a:endParaRPr>
              </a:p>
              <a:p>
                <a:pPr marL="0" indent="0">
                  <a:lnSpc>
                    <a:spcPct val="110000"/>
                  </a:lnSpc>
                  <a:buNone/>
                </a:pPr>
                <a:r>
                  <a:rPr lang="fr-CA" sz="2200" dirty="0">
                    <a:latin typeface="Cambria" panose="02040503050406030204" pitchFamily="18" charset="0"/>
                    <a:ea typeface="Cambria" panose="02040503050406030204" pitchFamily="18" charset="0"/>
                  </a:rPr>
                  <a:t>3. Cette suite converge vers </a:t>
                </a:r>
                <a14:m>
                  <m:oMath xmlns:m="http://schemas.openxmlformats.org/officeDocument/2006/math">
                    <m:rad>
                      <m:radPr>
                        <m:degHide m:val="on"/>
                        <m:ctrlPr>
                          <a:rPr lang="fr-CA" sz="2200" b="0" i="1" smtClean="0">
                            <a:latin typeface="Cambria Math" panose="02040503050406030204" pitchFamily="18" charset="0"/>
                            <a:ea typeface="Cambria" panose="02040503050406030204" pitchFamily="18" charset="0"/>
                          </a:rPr>
                        </m:ctrlPr>
                      </m:radPr>
                      <m:deg/>
                      <m:e>
                        <m:r>
                          <a:rPr lang="fr-CA" sz="2200" b="0" i="1" smtClean="0">
                            <a:latin typeface="Cambria Math" panose="02040503050406030204" pitchFamily="18" charset="0"/>
                            <a:ea typeface="Cambria" panose="02040503050406030204" pitchFamily="18" charset="0"/>
                          </a:rPr>
                          <m:t>𝑏</m:t>
                        </m:r>
                      </m:e>
                    </m:rad>
                  </m:oMath>
                </a14:m>
                <a:r>
                  <a:rPr lang="fr-CA" sz="2200" dirty="0">
                    <a:latin typeface="Cambria" panose="02040503050406030204" pitchFamily="18" charset="0"/>
                    <a:ea typeface="Cambria" panose="02040503050406030204" pitchFamily="18" charset="0"/>
                  </a:rPr>
                  <a:t>. Autrement dit,</a:t>
                </a:r>
              </a:p>
              <a:p>
                <a:pPr marL="457200" lvl="1" indent="0">
                  <a:lnSpc>
                    <a:spcPct val="110000"/>
                  </a:lnSpc>
                  <a:buNone/>
                </a:pPr>
                <a14:m>
                  <m:oMathPara xmlns:m="http://schemas.openxmlformats.org/officeDocument/2006/math">
                    <m:oMathParaPr>
                      <m:jc m:val="left"/>
                    </m:oMathParaPr>
                    <m:oMath xmlns:m="http://schemas.openxmlformats.org/officeDocument/2006/math">
                      <m:func>
                        <m:funcPr>
                          <m:ctrlPr>
                            <a:rPr lang="fr-CA" sz="2200" i="1" smtClean="0">
                              <a:latin typeface="Cambria Math" panose="02040503050406030204" pitchFamily="18" charset="0"/>
                              <a:ea typeface="Cambria" panose="02040503050406030204" pitchFamily="18" charset="0"/>
                            </a:rPr>
                          </m:ctrlPr>
                        </m:funcPr>
                        <m:fName>
                          <m:limLow>
                            <m:limLowPr>
                              <m:ctrlPr>
                                <a:rPr lang="fr-CA" sz="2200" i="1" smtClean="0">
                                  <a:latin typeface="Cambria Math" panose="02040503050406030204" pitchFamily="18" charset="0"/>
                                  <a:ea typeface="Cambria" panose="02040503050406030204" pitchFamily="18" charset="0"/>
                                </a:rPr>
                              </m:ctrlPr>
                            </m:limLowPr>
                            <m:e>
                              <m:r>
                                <m:rPr>
                                  <m:sty m:val="p"/>
                                </m:rPr>
                                <a:rPr lang="fr-CA" sz="2200" i="0" smtClean="0">
                                  <a:latin typeface="Cambria Math" panose="02040503050406030204" pitchFamily="18" charset="0"/>
                                  <a:ea typeface="Cambria" panose="02040503050406030204" pitchFamily="18" charset="0"/>
                                </a:rPr>
                                <m:t>lim</m:t>
                              </m:r>
                            </m:e>
                            <m:lim>
                              <m:r>
                                <a:rPr lang="fr-CA" sz="2200" b="0" i="1" smtClean="0">
                                  <a:latin typeface="Cambria Math" panose="02040503050406030204" pitchFamily="18" charset="0"/>
                                  <a:ea typeface="Cambria" panose="02040503050406030204" pitchFamily="18" charset="0"/>
                                </a:rPr>
                                <m:t>𝑛</m:t>
                              </m:r>
                              <m:r>
                                <a:rPr lang="fr-CA" sz="2200" b="0" i="1" smtClean="0">
                                  <a:latin typeface="Cambria Math" panose="02040503050406030204" pitchFamily="18" charset="0"/>
                                  <a:ea typeface="Cambria" panose="02040503050406030204" pitchFamily="18" charset="0"/>
                                </a:rPr>
                                <m:t>→∞</m:t>
                              </m:r>
                            </m:lim>
                          </m:limLow>
                        </m:fName>
                        <m:e>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𝑢</m:t>
                              </m:r>
                            </m:e>
                            <m:sub>
                              <m:r>
                                <a:rPr lang="fr-CA" sz="2200" b="0" i="1" smtClean="0">
                                  <a:latin typeface="Cambria Math" panose="02040503050406030204" pitchFamily="18" charset="0"/>
                                  <a:ea typeface="Cambria" panose="02040503050406030204" pitchFamily="18" charset="0"/>
                                </a:rPr>
                                <m:t>𝑛</m:t>
                              </m:r>
                            </m:sub>
                          </m:sSub>
                        </m:e>
                      </m:func>
                      <m:r>
                        <a:rPr lang="fr-CA" sz="2200" b="0" i="1" smtClean="0">
                          <a:latin typeface="Cambria Math" panose="02040503050406030204" pitchFamily="18" charset="0"/>
                          <a:ea typeface="Cambria" panose="02040503050406030204" pitchFamily="18" charset="0"/>
                        </a:rPr>
                        <m:t>=</m:t>
                      </m:r>
                      <m:rad>
                        <m:radPr>
                          <m:degHide m:val="on"/>
                          <m:ctrlPr>
                            <a:rPr lang="fr-CA" sz="2200" i="1">
                              <a:latin typeface="Cambria Math" panose="02040503050406030204" pitchFamily="18" charset="0"/>
                              <a:ea typeface="Cambria" panose="02040503050406030204" pitchFamily="18" charset="0"/>
                            </a:rPr>
                          </m:ctrlPr>
                        </m:radPr>
                        <m:deg/>
                        <m:e>
                          <m:r>
                            <a:rPr lang="fr-CA" sz="2200" b="0" i="1" smtClean="0">
                              <a:latin typeface="Cambria Math" panose="02040503050406030204" pitchFamily="18" charset="0"/>
                              <a:ea typeface="Cambria" panose="02040503050406030204" pitchFamily="18" charset="0"/>
                            </a:rPr>
                            <m:t>𝑏</m:t>
                          </m:r>
                        </m:e>
                      </m:rad>
                    </m:oMath>
                  </m:oMathPara>
                </a14:m>
                <a:endParaRPr lang="fr-CA" sz="2200" dirty="0">
                  <a:latin typeface="Cambria" panose="02040503050406030204" pitchFamily="18" charset="0"/>
                  <a:ea typeface="Cambria" panose="02040503050406030204" pitchFamily="18" charset="0"/>
                </a:endParaRPr>
              </a:p>
              <a:p>
                <a:pPr marL="0" indent="0">
                  <a:lnSpc>
                    <a:spcPct val="110000"/>
                  </a:lnSpc>
                  <a:buNone/>
                </a:pPr>
                <a:r>
                  <a:rPr lang="fr-CA" sz="2200" dirty="0">
                    <a:latin typeface="Cambria" panose="02040503050406030204" pitchFamily="18" charset="0"/>
                    <a:ea typeface="Cambria" panose="02040503050406030204" pitchFamily="18" charset="0"/>
                  </a:rPr>
                  <a:t>Exemple : </a:t>
                </a:r>
                <a14:m>
                  <m:oMath xmlns:m="http://schemas.openxmlformats.org/officeDocument/2006/math">
                    <m:r>
                      <a:rPr lang="fr-CA" sz="2200" b="0" i="1" smtClean="0">
                        <a:solidFill>
                          <a:srgbClr val="0070C0"/>
                        </a:solidFill>
                        <a:latin typeface="Cambria Math" panose="02040503050406030204" pitchFamily="18" charset="0"/>
                        <a:ea typeface="Cambria" panose="02040503050406030204" pitchFamily="18" charset="0"/>
                      </a:rPr>
                      <m:t>𝑏</m:t>
                    </m:r>
                    <m:r>
                      <a:rPr lang="fr-CA" sz="2200" b="0" i="1" smtClean="0">
                        <a:solidFill>
                          <a:srgbClr val="0070C0"/>
                        </a:solidFill>
                        <a:latin typeface="Cambria Math" panose="02040503050406030204" pitchFamily="18" charset="0"/>
                        <a:ea typeface="Cambria" panose="02040503050406030204" pitchFamily="18" charset="0"/>
                      </a:rPr>
                      <m:t>=2</m:t>
                    </m:r>
                  </m:oMath>
                </a14:m>
                <a:endParaRPr lang="fr-CA" sz="2200" dirty="0">
                  <a:latin typeface="Cambria" panose="02040503050406030204" pitchFamily="18" charset="0"/>
                  <a:ea typeface="Cambria" panose="02040503050406030204" pitchFamily="18" charset="0"/>
                </a:endParaRPr>
              </a:p>
              <a:p>
                <a:pPr marL="457200" lvl="1" indent="0">
                  <a:lnSpc>
                    <a:spcPct val="110000"/>
                  </a:lnSpc>
                  <a:buNone/>
                </a:pPr>
                <a14:m>
                  <m:oMathPara xmlns:m="http://schemas.openxmlformats.org/officeDocument/2006/math">
                    <m:oMathParaPr>
                      <m:jc m:val="left"/>
                    </m:oMathParaPr>
                    <m:oMath xmlns:m="http://schemas.openxmlformats.org/officeDocument/2006/math">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1</m:t>
                          </m:r>
                        </m:sub>
                      </m:sSub>
                      <m:r>
                        <a:rPr lang="fr-CA" sz="2200" b="0" i="1" smtClean="0">
                          <a:latin typeface="Cambria Math" panose="02040503050406030204" pitchFamily="18" charset="0"/>
                          <a:ea typeface="Cambria" panose="02040503050406030204" pitchFamily="18" charset="0"/>
                        </a:rPr>
                        <m:t>=1</m:t>
                      </m:r>
                    </m:oMath>
                  </m:oMathPara>
                </a14:m>
                <a:endParaRPr lang="fr-CA" sz="2200" b="0" dirty="0">
                  <a:latin typeface="Cambria" panose="02040503050406030204" pitchFamily="18" charset="0"/>
                  <a:ea typeface="Cambria" panose="02040503050406030204" pitchFamily="18" charset="0"/>
                </a:endParaRPr>
              </a:p>
              <a:p>
                <a:pPr marL="457200" lvl="1" indent="0">
                  <a:lnSpc>
                    <a:spcPct val="110000"/>
                  </a:lnSpc>
                  <a:buNone/>
                </a:pPr>
                <a14:m>
                  <m:oMathPara xmlns:m="http://schemas.openxmlformats.org/officeDocument/2006/math">
                    <m:oMathParaPr>
                      <m:jc m:val="left"/>
                    </m:oMathParaPr>
                    <m:oMath xmlns:m="http://schemas.openxmlformats.org/officeDocument/2006/math">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2</m:t>
                          </m:r>
                        </m:sub>
                      </m:sSub>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latin typeface="Cambria Math" panose="02040503050406030204" pitchFamily="18" charset="0"/>
                              <a:ea typeface="Cambria" panose="02040503050406030204" pitchFamily="18" charset="0"/>
                            </a:rPr>
                            <m:t>1</m:t>
                          </m:r>
                        </m:num>
                        <m:den>
                          <m:r>
                            <a:rPr lang="fr-CA" sz="2200" b="0" i="1" smtClean="0">
                              <a:latin typeface="Cambria Math" panose="02040503050406030204" pitchFamily="18" charset="0"/>
                              <a:ea typeface="Cambria" panose="02040503050406030204" pitchFamily="18" charset="0"/>
                            </a:rPr>
                            <m:t>2</m:t>
                          </m:r>
                        </m:den>
                      </m:f>
                      <m:d>
                        <m:dPr>
                          <m:ctrlPr>
                            <a:rPr lang="fr-CA" sz="2200" b="0" i="1" smtClean="0">
                              <a:latin typeface="Cambria Math" panose="02040503050406030204" pitchFamily="18" charset="0"/>
                              <a:ea typeface="Cambria" panose="02040503050406030204" pitchFamily="18" charset="0"/>
                            </a:rPr>
                          </m:ctrlPr>
                        </m:dPr>
                        <m:e>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1</m:t>
                              </m:r>
                            </m:sub>
                          </m:sSub>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solidFill>
                                    <a:srgbClr val="0070C0"/>
                                  </a:solidFill>
                                  <a:latin typeface="Cambria Math" panose="02040503050406030204" pitchFamily="18" charset="0"/>
                                  <a:ea typeface="Cambria" panose="02040503050406030204" pitchFamily="18" charset="0"/>
                                </a:rPr>
                                <m:t>2</m:t>
                              </m:r>
                            </m:num>
                            <m:den>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1</m:t>
                                  </m:r>
                                </m:sub>
                              </m:sSub>
                            </m:den>
                          </m:f>
                        </m:e>
                      </m:d>
                      <m:r>
                        <a:rPr lang="fr-CA" sz="2200" b="0" i="1" smtClean="0">
                          <a:latin typeface="Cambria Math" panose="02040503050406030204" pitchFamily="18" charset="0"/>
                          <a:ea typeface="Cambria" panose="02040503050406030204" pitchFamily="18" charset="0"/>
                        </a:rPr>
                        <m:t>=</m:t>
                      </m:r>
                      <m:f>
                        <m:fPr>
                          <m:ctrlPr>
                            <a:rPr lang="fr-CA" sz="2200" i="1">
                              <a:latin typeface="Cambria Math" panose="02040503050406030204" pitchFamily="18" charset="0"/>
                              <a:ea typeface="Cambria" panose="02040503050406030204" pitchFamily="18" charset="0"/>
                            </a:rPr>
                          </m:ctrlPr>
                        </m:fPr>
                        <m:num>
                          <m:r>
                            <a:rPr lang="fr-CA" sz="2200" i="1">
                              <a:latin typeface="Cambria Math" panose="02040503050406030204" pitchFamily="18" charset="0"/>
                              <a:ea typeface="Cambria" panose="02040503050406030204" pitchFamily="18" charset="0"/>
                            </a:rPr>
                            <m:t>1</m:t>
                          </m:r>
                        </m:num>
                        <m:den>
                          <m:r>
                            <a:rPr lang="fr-CA" sz="2200" i="1">
                              <a:latin typeface="Cambria Math" panose="02040503050406030204" pitchFamily="18" charset="0"/>
                              <a:ea typeface="Cambria" panose="02040503050406030204" pitchFamily="18" charset="0"/>
                            </a:rPr>
                            <m:t>2</m:t>
                          </m:r>
                        </m:den>
                      </m:f>
                      <m:d>
                        <m:dPr>
                          <m:ctrlPr>
                            <a:rPr lang="fr-CA" sz="2200" i="1">
                              <a:latin typeface="Cambria Math" panose="02040503050406030204" pitchFamily="18" charset="0"/>
                              <a:ea typeface="Cambria" panose="02040503050406030204" pitchFamily="18" charset="0"/>
                            </a:rPr>
                          </m:ctrlPr>
                        </m:dPr>
                        <m:e>
                          <m:r>
                            <a:rPr lang="fr-CA" sz="2200" b="0" i="1" smtClean="0">
                              <a:latin typeface="Cambria Math" panose="02040503050406030204" pitchFamily="18" charset="0"/>
                              <a:ea typeface="Cambria" panose="02040503050406030204" pitchFamily="18" charset="0"/>
                            </a:rPr>
                            <m:t>1</m:t>
                          </m:r>
                          <m:r>
                            <a:rPr lang="fr-CA" sz="2200" i="1">
                              <a:latin typeface="Cambria Math" panose="02040503050406030204" pitchFamily="18" charset="0"/>
                              <a:ea typeface="Cambria" panose="02040503050406030204" pitchFamily="18" charset="0"/>
                            </a:rPr>
                            <m:t>+</m:t>
                          </m:r>
                          <m:f>
                            <m:fPr>
                              <m:ctrlPr>
                                <a:rPr lang="fr-CA" sz="2200" i="1">
                                  <a:latin typeface="Cambria Math" panose="02040503050406030204" pitchFamily="18" charset="0"/>
                                  <a:ea typeface="Cambria" panose="02040503050406030204" pitchFamily="18" charset="0"/>
                                </a:rPr>
                              </m:ctrlPr>
                            </m:fPr>
                            <m:num>
                              <m:r>
                                <a:rPr lang="fr-CA" sz="2200" i="1" smtClean="0">
                                  <a:solidFill>
                                    <a:srgbClr val="0070C0"/>
                                  </a:solidFill>
                                  <a:latin typeface="Cambria Math" panose="02040503050406030204" pitchFamily="18" charset="0"/>
                                  <a:ea typeface="Cambria" panose="02040503050406030204" pitchFamily="18" charset="0"/>
                                </a:rPr>
                                <m:t>2</m:t>
                              </m:r>
                            </m:num>
                            <m:den>
                              <m:r>
                                <a:rPr lang="fr-CA" sz="2200" b="0" i="1" smtClean="0">
                                  <a:latin typeface="Cambria Math" panose="02040503050406030204" pitchFamily="18" charset="0"/>
                                  <a:ea typeface="Cambria" panose="02040503050406030204" pitchFamily="18" charset="0"/>
                                </a:rPr>
                                <m:t>1</m:t>
                              </m:r>
                            </m:den>
                          </m:f>
                        </m:e>
                      </m:d>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latin typeface="Cambria Math" panose="02040503050406030204" pitchFamily="18" charset="0"/>
                              <a:ea typeface="Cambria" panose="02040503050406030204" pitchFamily="18" charset="0"/>
                            </a:rPr>
                            <m:t>3</m:t>
                          </m:r>
                        </m:num>
                        <m:den>
                          <m:r>
                            <a:rPr lang="fr-CA" sz="2200" b="0" i="1" smtClean="0">
                              <a:latin typeface="Cambria Math" panose="02040503050406030204" pitchFamily="18" charset="0"/>
                              <a:ea typeface="Cambria" panose="02040503050406030204" pitchFamily="18" charset="0"/>
                            </a:rPr>
                            <m:t>2</m:t>
                          </m:r>
                        </m:den>
                      </m:f>
                      <m:r>
                        <a:rPr lang="fr-CA" sz="2200" b="0" i="1" smtClean="0">
                          <a:latin typeface="Cambria Math" panose="02040503050406030204" pitchFamily="18" charset="0"/>
                          <a:ea typeface="Cambria" panose="02040503050406030204" pitchFamily="18" charset="0"/>
                        </a:rPr>
                        <m:t>≈1,5</m:t>
                      </m:r>
                    </m:oMath>
                  </m:oMathPara>
                </a14:m>
                <a:endParaRPr lang="fr-CA" sz="2200" dirty="0">
                  <a:latin typeface="Cambria" panose="02040503050406030204" pitchFamily="18" charset="0"/>
                  <a:ea typeface="Cambria" panose="02040503050406030204" pitchFamily="18" charset="0"/>
                </a:endParaRPr>
              </a:p>
              <a:p>
                <a:pPr marL="457200" lvl="1" indent="0">
                  <a:lnSpc>
                    <a:spcPct val="110000"/>
                  </a:lnSpc>
                  <a:buNone/>
                </a:pPr>
                <a14:m>
                  <m:oMathPara xmlns:m="http://schemas.openxmlformats.org/officeDocument/2006/math">
                    <m:oMathParaPr>
                      <m:jc m:val="left"/>
                    </m:oMathParaPr>
                    <m:oMath xmlns:m="http://schemas.openxmlformats.org/officeDocument/2006/math">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3</m:t>
                          </m:r>
                        </m:sub>
                      </m:sSub>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latin typeface="Cambria Math" panose="02040503050406030204" pitchFamily="18" charset="0"/>
                              <a:ea typeface="Cambria" panose="02040503050406030204" pitchFamily="18" charset="0"/>
                            </a:rPr>
                            <m:t>1</m:t>
                          </m:r>
                        </m:num>
                        <m:den>
                          <m:r>
                            <a:rPr lang="fr-CA" sz="2200" b="0" i="1" smtClean="0">
                              <a:latin typeface="Cambria Math" panose="02040503050406030204" pitchFamily="18" charset="0"/>
                              <a:ea typeface="Cambria" panose="02040503050406030204" pitchFamily="18" charset="0"/>
                            </a:rPr>
                            <m:t>2</m:t>
                          </m:r>
                        </m:den>
                      </m:f>
                      <m:d>
                        <m:dPr>
                          <m:ctrlPr>
                            <a:rPr lang="fr-CA" sz="2200" b="0" i="1" smtClean="0">
                              <a:latin typeface="Cambria Math" panose="02040503050406030204" pitchFamily="18" charset="0"/>
                              <a:ea typeface="Cambria" panose="02040503050406030204" pitchFamily="18" charset="0"/>
                            </a:rPr>
                          </m:ctrlPr>
                        </m:dPr>
                        <m:e>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2</m:t>
                              </m:r>
                            </m:sub>
                          </m:sSub>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solidFill>
                                    <a:srgbClr val="0070C0"/>
                                  </a:solidFill>
                                  <a:latin typeface="Cambria Math" panose="02040503050406030204" pitchFamily="18" charset="0"/>
                                  <a:ea typeface="Cambria" panose="02040503050406030204" pitchFamily="18" charset="0"/>
                                </a:rPr>
                                <m:t>2</m:t>
                              </m:r>
                            </m:num>
                            <m:den>
                              <m:sSub>
                                <m:sSubPr>
                                  <m:ctrlPr>
                                    <a:rPr lang="fr-CA" sz="2200" b="0" i="1" smtClean="0">
                                      <a:latin typeface="Cambria Math" panose="02040503050406030204" pitchFamily="18" charset="0"/>
                                      <a:ea typeface="Cambria" panose="02040503050406030204" pitchFamily="18" charset="0"/>
                                    </a:rPr>
                                  </m:ctrlPr>
                                </m:sSubPr>
                                <m:e>
                                  <m:r>
                                    <a:rPr lang="fr-CA" sz="2200" b="0" i="1" smtClean="0">
                                      <a:latin typeface="Cambria Math" panose="02040503050406030204" pitchFamily="18" charset="0"/>
                                      <a:ea typeface="Cambria" panose="02040503050406030204" pitchFamily="18" charset="0"/>
                                    </a:rPr>
                                    <m:t>𝑎</m:t>
                                  </m:r>
                                </m:e>
                                <m:sub>
                                  <m:r>
                                    <a:rPr lang="fr-CA" sz="2200" b="0" i="1" smtClean="0">
                                      <a:latin typeface="Cambria Math" panose="02040503050406030204" pitchFamily="18" charset="0"/>
                                      <a:ea typeface="Cambria" panose="02040503050406030204" pitchFamily="18" charset="0"/>
                                    </a:rPr>
                                    <m:t>2</m:t>
                                  </m:r>
                                </m:sub>
                              </m:sSub>
                            </m:den>
                          </m:f>
                        </m:e>
                      </m:d>
                      <m:r>
                        <a:rPr lang="fr-CA" sz="2200" b="0" i="1" smtClean="0">
                          <a:latin typeface="Cambria Math" panose="02040503050406030204" pitchFamily="18" charset="0"/>
                          <a:ea typeface="Cambria" panose="02040503050406030204" pitchFamily="18" charset="0"/>
                        </a:rPr>
                        <m:t>=</m:t>
                      </m:r>
                      <m:f>
                        <m:fPr>
                          <m:ctrlPr>
                            <a:rPr lang="fr-CA" sz="2200" i="1">
                              <a:latin typeface="Cambria Math" panose="02040503050406030204" pitchFamily="18" charset="0"/>
                              <a:ea typeface="Cambria" panose="02040503050406030204" pitchFamily="18" charset="0"/>
                            </a:rPr>
                          </m:ctrlPr>
                        </m:fPr>
                        <m:num>
                          <m:r>
                            <a:rPr lang="fr-CA" sz="2200" i="1">
                              <a:latin typeface="Cambria Math" panose="02040503050406030204" pitchFamily="18" charset="0"/>
                              <a:ea typeface="Cambria" panose="02040503050406030204" pitchFamily="18" charset="0"/>
                            </a:rPr>
                            <m:t>1</m:t>
                          </m:r>
                        </m:num>
                        <m:den>
                          <m:r>
                            <a:rPr lang="fr-CA" sz="2200" i="1">
                              <a:latin typeface="Cambria Math" panose="02040503050406030204" pitchFamily="18" charset="0"/>
                              <a:ea typeface="Cambria" panose="02040503050406030204" pitchFamily="18" charset="0"/>
                            </a:rPr>
                            <m:t>2</m:t>
                          </m:r>
                        </m:den>
                      </m:f>
                      <m:d>
                        <m:dPr>
                          <m:ctrlPr>
                            <a:rPr lang="fr-CA" sz="2200" i="1">
                              <a:latin typeface="Cambria Math" panose="02040503050406030204" pitchFamily="18" charset="0"/>
                              <a:ea typeface="Cambria" panose="02040503050406030204" pitchFamily="18" charset="0"/>
                            </a:rPr>
                          </m:ctrlPr>
                        </m:dPr>
                        <m:e>
                          <m:f>
                            <m:fPr>
                              <m:ctrlPr>
                                <a:rPr lang="fr-CA" sz="2200" b="0" i="1" smtClean="0">
                                  <a:latin typeface="Cambria Math" panose="02040503050406030204" pitchFamily="18" charset="0"/>
                                  <a:ea typeface="Cambria" panose="02040503050406030204" pitchFamily="18" charset="0"/>
                                </a:rPr>
                              </m:ctrlPr>
                            </m:fPr>
                            <m:num>
                              <m:r>
                                <a:rPr lang="fr-CA" sz="2200" b="0" i="1" smtClean="0">
                                  <a:latin typeface="Cambria Math" panose="02040503050406030204" pitchFamily="18" charset="0"/>
                                  <a:ea typeface="Cambria" panose="02040503050406030204" pitchFamily="18" charset="0"/>
                                </a:rPr>
                                <m:t>3</m:t>
                              </m:r>
                            </m:num>
                            <m:den>
                              <m:r>
                                <a:rPr lang="fr-CA" sz="2200" b="0" i="1" smtClean="0">
                                  <a:latin typeface="Cambria Math" panose="02040503050406030204" pitchFamily="18" charset="0"/>
                                  <a:ea typeface="Cambria" panose="02040503050406030204" pitchFamily="18" charset="0"/>
                                </a:rPr>
                                <m:t>2</m:t>
                              </m:r>
                            </m:den>
                          </m:f>
                          <m:r>
                            <a:rPr lang="fr-CA" sz="2200" i="1">
                              <a:latin typeface="Cambria Math" panose="02040503050406030204" pitchFamily="18" charset="0"/>
                              <a:ea typeface="Cambria" panose="02040503050406030204" pitchFamily="18" charset="0"/>
                            </a:rPr>
                            <m:t>+</m:t>
                          </m:r>
                          <m:f>
                            <m:fPr>
                              <m:ctrlPr>
                                <a:rPr lang="fr-CA" sz="2200" i="1">
                                  <a:latin typeface="Cambria Math" panose="02040503050406030204" pitchFamily="18" charset="0"/>
                                  <a:ea typeface="Cambria" panose="02040503050406030204" pitchFamily="18" charset="0"/>
                                </a:rPr>
                              </m:ctrlPr>
                            </m:fPr>
                            <m:num>
                              <m:r>
                                <a:rPr lang="fr-CA" sz="2200" i="1" smtClean="0">
                                  <a:solidFill>
                                    <a:srgbClr val="0070C0"/>
                                  </a:solidFill>
                                  <a:latin typeface="Cambria Math" panose="02040503050406030204" pitchFamily="18" charset="0"/>
                                  <a:ea typeface="Cambria" panose="02040503050406030204" pitchFamily="18" charset="0"/>
                                </a:rPr>
                                <m:t>2</m:t>
                              </m:r>
                            </m:num>
                            <m:den>
                              <m:f>
                                <m:fPr>
                                  <m:type m:val="lin"/>
                                  <m:ctrlPr>
                                    <a:rPr lang="fr-CA" sz="2200" i="1">
                                      <a:latin typeface="Cambria Math" panose="02040503050406030204" pitchFamily="18" charset="0"/>
                                      <a:ea typeface="Cambria" panose="02040503050406030204" pitchFamily="18" charset="0"/>
                                    </a:rPr>
                                  </m:ctrlPr>
                                </m:fPr>
                                <m:num>
                                  <m:r>
                                    <a:rPr lang="fr-CA" sz="2200" i="1">
                                      <a:latin typeface="Cambria Math" panose="02040503050406030204" pitchFamily="18" charset="0"/>
                                      <a:ea typeface="Cambria" panose="02040503050406030204" pitchFamily="18" charset="0"/>
                                    </a:rPr>
                                    <m:t>3</m:t>
                                  </m:r>
                                </m:num>
                                <m:den>
                                  <m:r>
                                    <a:rPr lang="fr-CA" sz="2200" i="1">
                                      <a:latin typeface="Cambria Math" panose="02040503050406030204" pitchFamily="18" charset="0"/>
                                      <a:ea typeface="Cambria" panose="02040503050406030204" pitchFamily="18" charset="0"/>
                                    </a:rPr>
                                    <m:t>2</m:t>
                                  </m:r>
                                </m:den>
                              </m:f>
                            </m:den>
                          </m:f>
                        </m:e>
                      </m:d>
                      <m:r>
                        <a:rPr lang="fr-CA" sz="2200" b="0" i="1" smtClean="0">
                          <a:latin typeface="Cambria Math" panose="02040503050406030204" pitchFamily="18" charset="0"/>
                          <a:ea typeface="Cambria" panose="02040503050406030204" pitchFamily="18" charset="0"/>
                        </a:rPr>
                        <m:t>=</m:t>
                      </m:r>
                      <m:f>
                        <m:fPr>
                          <m:ctrlPr>
                            <a:rPr lang="fr-CA" sz="2200" b="0" i="1" smtClean="0">
                              <a:latin typeface="Cambria Math" panose="02040503050406030204" pitchFamily="18" charset="0"/>
                              <a:ea typeface="Cambria" panose="02040503050406030204" pitchFamily="18" charset="0"/>
                            </a:rPr>
                          </m:ctrlPr>
                        </m:fPr>
                        <m:num>
                          <m:r>
                            <a:rPr lang="fr-CA" sz="2200" b="0" i="1" smtClean="0">
                              <a:latin typeface="Cambria Math" panose="02040503050406030204" pitchFamily="18" charset="0"/>
                              <a:ea typeface="Cambria" panose="02040503050406030204" pitchFamily="18" charset="0"/>
                            </a:rPr>
                            <m:t>17</m:t>
                          </m:r>
                        </m:num>
                        <m:den>
                          <m:r>
                            <a:rPr lang="fr-CA" sz="2200" b="0" i="1" smtClean="0">
                              <a:latin typeface="Cambria Math" panose="02040503050406030204" pitchFamily="18" charset="0"/>
                              <a:ea typeface="Cambria" panose="02040503050406030204" pitchFamily="18" charset="0"/>
                            </a:rPr>
                            <m:t>12</m:t>
                          </m:r>
                        </m:den>
                      </m:f>
                      <m:r>
                        <a:rPr lang="fr-CA" sz="2200" b="0" i="1" smtClean="0">
                          <a:latin typeface="Cambria Math" panose="02040503050406030204" pitchFamily="18" charset="0"/>
                          <a:ea typeface="Cambria" panose="02040503050406030204" pitchFamily="18" charset="0"/>
                        </a:rPr>
                        <m:t>≈1,4167</m:t>
                      </m:r>
                    </m:oMath>
                  </m:oMathPara>
                </a14:m>
                <a:endParaRPr lang="fr-CA" sz="2200" dirty="0">
                  <a:latin typeface="Cambria" panose="02040503050406030204" pitchFamily="18" charset="0"/>
                  <a:ea typeface="Cambria" panose="02040503050406030204" pitchFamily="18" charset="0"/>
                </a:endParaRPr>
              </a:p>
              <a:p>
                <a:pPr marL="457200" lvl="1" indent="0">
                  <a:lnSpc>
                    <a:spcPct val="110000"/>
                  </a:lnSpc>
                  <a:buNone/>
                </a:pPr>
                <a:endParaRPr lang="fr-CA" sz="2200" dirty="0">
                  <a:latin typeface="Cambria" panose="02040503050406030204" pitchFamily="18" charset="0"/>
                  <a:ea typeface="Cambria" panose="02040503050406030204" pitchFamily="18" charset="0"/>
                </a:endParaRPr>
              </a:p>
              <a:p>
                <a:pPr marL="0" indent="0">
                  <a:lnSpc>
                    <a:spcPct val="110000"/>
                  </a:lnSpc>
                  <a:buNone/>
                </a:pPr>
                <a:endParaRPr lang="fr-CA" sz="2200" dirty="0">
                  <a:latin typeface="Cambria" panose="02040503050406030204" pitchFamily="18" charset="0"/>
                  <a:ea typeface="Cambria" panose="02040503050406030204" pitchFamily="18" charset="0"/>
                </a:endParaRPr>
              </a:p>
            </p:txBody>
          </p:sp>
        </mc:Choice>
        <mc:Fallback>
          <p:sp>
            <p:nvSpPr>
              <p:cNvPr id="3" name="Espace réservé du contenu 2"/>
              <p:cNvSpPr>
                <a:spLocks noGrp="1" noRot="1" noChangeAspect="1" noMove="1" noResize="1" noEditPoints="1" noAdjustHandles="1" noChangeArrowheads="1" noChangeShapeType="1" noTextEdit="1"/>
              </p:cNvSpPr>
              <p:nvPr>
                <p:ph idx="1"/>
              </p:nvPr>
            </p:nvSpPr>
            <p:spPr>
              <a:xfrm>
                <a:off x="0" y="954504"/>
                <a:ext cx="12192000" cy="5903495"/>
              </a:xfrm>
              <a:blipFill>
                <a:blip r:embed="rId2"/>
                <a:stretch>
                  <a:fillRect l="-650" t="-723"/>
                </a:stretch>
              </a:blipFill>
            </p:spPr>
            <p:txBody>
              <a:bodyPr/>
              <a:lstStyle/>
              <a:p>
                <a:r>
                  <a:rPr lang="fr-CA">
                    <a:noFill/>
                  </a:rPr>
                  <a:t> </a:t>
                </a:r>
              </a:p>
            </p:txBody>
          </p:sp>
        </mc:Fallback>
      </mc:AlternateContent>
    </p:spTree>
    <p:extLst>
      <p:ext uri="{BB962C8B-B14F-4D97-AF65-F5344CB8AC3E}">
        <p14:creationId xmlns:p14="http://schemas.microsoft.com/office/powerpoint/2010/main" val="172428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555B-63C0-72BD-B43F-8746AC293C3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CEA4D20-EC04-5AD4-E1BC-331794265BA0}"/>
              </a:ext>
            </a:extLst>
          </p:cNvPr>
          <p:cNvSpPr>
            <a:spLocks noGrp="1"/>
          </p:cNvSpPr>
          <p:nvPr>
            <p:ph type="title"/>
          </p:nvPr>
        </p:nvSpPr>
        <p:spPr>
          <a:xfrm>
            <a:off x="0" y="0"/>
            <a:ext cx="12192000" cy="858254"/>
          </a:xfrm>
        </p:spPr>
        <p:txBody>
          <a:bodyPr>
            <a:normAutofit/>
          </a:bodyPr>
          <a:lstStyle/>
          <a:p>
            <a:r>
              <a:rPr lang="fr-CA" b="1" dirty="0">
                <a:solidFill>
                  <a:srgbClr val="7030A0"/>
                </a:solidFill>
                <a:latin typeface="Cambria" panose="02040503050406030204" pitchFamily="18" charset="0"/>
                <a:ea typeface="Cambria" panose="02040503050406030204" pitchFamily="18" charset="0"/>
              </a:rPr>
              <a:t>Suites | Problème de </a:t>
            </a:r>
            <a:r>
              <a:rPr lang="fr-CA" b="1" dirty="0" err="1">
                <a:solidFill>
                  <a:srgbClr val="7030A0"/>
                </a:solidFill>
                <a:latin typeface="Cambria" panose="02040503050406030204" pitchFamily="18" charset="0"/>
                <a:ea typeface="Cambria" panose="02040503050406030204" pitchFamily="18" charset="0"/>
              </a:rPr>
              <a:t>Collatz</a:t>
            </a:r>
            <a:endParaRPr lang="fr-CA" b="1" dirty="0">
              <a:solidFill>
                <a:srgbClr val="7030A0"/>
              </a:solidFill>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6CB20A26-72A3-03F0-7351-F460AAB552FF}"/>
                  </a:ext>
                </a:extLst>
              </p:cNvPr>
              <p:cNvSpPr>
                <a:spLocks noGrp="1"/>
              </p:cNvSpPr>
              <p:nvPr>
                <p:ph idx="1"/>
              </p:nvPr>
            </p:nvSpPr>
            <p:spPr>
              <a:xfrm>
                <a:off x="0" y="954505"/>
                <a:ext cx="12192000" cy="5903495"/>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1</m:t>
                          </m:r>
                        </m:sub>
                      </m:sSub>
                      <m:r>
                        <a:rPr lang="fr-CA" b="0" i="1" smtClean="0">
                          <a:latin typeface="Cambria Math" panose="02040503050406030204" pitchFamily="18" charset="0"/>
                          <a:ea typeface="Cambria" panose="02040503050406030204" pitchFamily="18" charset="0"/>
                        </a:rPr>
                        <m:t>=</m:t>
                      </m:r>
                      <m:r>
                        <a:rPr lang="fr-CA" b="0" i="1" smtClean="0">
                          <a:latin typeface="Cambria Math" panose="02040503050406030204" pitchFamily="18" charset="0"/>
                          <a:ea typeface="Cambria" panose="02040503050406030204" pitchFamily="18" charset="0"/>
                        </a:rPr>
                        <m:t>𝑏</m:t>
                      </m:r>
                    </m:oMath>
                  </m:oMathPara>
                </a14:m>
                <a:endParaRPr lang="fr-CA" b="0"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𝑛</m:t>
                          </m:r>
                          <m:r>
                            <a:rPr lang="fr-CA" b="0" i="1" smtClean="0">
                              <a:latin typeface="Cambria Math" panose="02040503050406030204" pitchFamily="18" charset="0"/>
                              <a:ea typeface="Cambria" panose="02040503050406030204" pitchFamily="18" charset="0"/>
                            </a:rPr>
                            <m:t>+1</m:t>
                          </m:r>
                        </m:sub>
                      </m:sSub>
                      <m:r>
                        <a:rPr lang="fr-CA" b="0" i="1" smtClean="0">
                          <a:latin typeface="Cambria Math" panose="02040503050406030204" pitchFamily="18" charset="0"/>
                          <a:ea typeface="Cambria" panose="02040503050406030204" pitchFamily="18" charset="0"/>
                        </a:rPr>
                        <m:t>=</m:t>
                      </m:r>
                      <m:d>
                        <m:dPr>
                          <m:begChr m:val="{"/>
                          <m:endChr m:val=""/>
                          <m:ctrlPr>
                            <a:rPr lang="fr-CA" b="0" i="1" smtClean="0">
                              <a:latin typeface="Cambria Math" panose="02040503050406030204" pitchFamily="18" charset="0"/>
                              <a:ea typeface="Cambria" panose="02040503050406030204" pitchFamily="18" charset="0"/>
                            </a:rPr>
                          </m:ctrlPr>
                        </m:dPr>
                        <m:e>
                          <m:m>
                            <m:mPr>
                              <m:mcs>
                                <m:mc>
                                  <m:mcPr>
                                    <m:count m:val="2"/>
                                    <m:mcJc m:val="center"/>
                                  </m:mcPr>
                                </m:mc>
                              </m:mcs>
                              <m:ctrlPr>
                                <a:rPr lang="fr-CA" b="0" i="1" smtClean="0">
                                  <a:latin typeface="Cambria Math" panose="02040503050406030204" pitchFamily="18" charset="0"/>
                                  <a:ea typeface="Cambria" panose="02040503050406030204" pitchFamily="18" charset="0"/>
                                </a:rPr>
                              </m:ctrlPr>
                            </m:mPr>
                            <m:mr>
                              <m:e>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3</m:t>
                                    </m:r>
                                    <m:r>
                                      <m:rPr>
                                        <m:brk m:alnAt="7"/>
                                      </m:rP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𝑛</m:t>
                                    </m:r>
                                  </m:sub>
                                </m:sSub>
                                <m:r>
                                  <m:rPr>
                                    <m:brk m:alnAt="7"/>
                                  </m:rPr>
                                  <a:rPr lang="fr-CA" b="0" i="1" smtClean="0">
                                    <a:latin typeface="Cambria Math" panose="02040503050406030204" pitchFamily="18" charset="0"/>
                                    <a:ea typeface="Cambria" panose="02040503050406030204" pitchFamily="18" charset="0"/>
                                  </a:rPr>
                                  <m:t>+1</m:t>
                                </m:r>
                              </m:e>
                              <m:e>
                                <m:r>
                                  <m:rPr>
                                    <m:nor/>
                                  </m:rPr>
                                  <a:rPr lang="fr-CA" b="0" i="0" smtClean="0">
                                    <a:latin typeface="Cambria Math" panose="02040503050406030204" pitchFamily="18" charset="0"/>
                                    <a:ea typeface="Cambria" panose="02040503050406030204" pitchFamily="18" charset="0"/>
                                  </a:rPr>
                                  <m:t>si</m:t>
                                </m:r>
                                <m:r>
                                  <a:rPr lang="fr-CA" b="0" i="1" smtClean="0">
                                    <a:latin typeface="Cambria Math" panose="02040503050406030204" pitchFamily="18" charset="0"/>
                                    <a:ea typeface="Cambria" panose="02040503050406030204" pitchFamily="18" charset="0"/>
                                  </a:rPr>
                                  <m:t> </m:t>
                                </m:r>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𝑛</m:t>
                                    </m:r>
                                  </m:sub>
                                </m:sSub>
                                <m:r>
                                  <a:rPr lang="fr-CA" b="0" i="1" smtClean="0">
                                    <a:latin typeface="Cambria Math" panose="02040503050406030204" pitchFamily="18" charset="0"/>
                                    <a:ea typeface="Cambria" panose="02040503050406030204" pitchFamily="18" charset="0"/>
                                  </a:rPr>
                                  <m:t> </m:t>
                                </m:r>
                                <m:r>
                                  <m:rPr>
                                    <m:nor/>
                                  </m:rPr>
                                  <a:rPr lang="fr-CA" b="0" i="0" smtClean="0">
                                    <a:latin typeface="Cambria Math" panose="02040503050406030204" pitchFamily="18" charset="0"/>
                                    <a:ea typeface="Cambria" panose="02040503050406030204" pitchFamily="18" charset="0"/>
                                  </a:rPr>
                                  <m:t>est</m:t>
                                </m:r>
                                <m:r>
                                  <m:rPr>
                                    <m:nor/>
                                  </m:rPr>
                                  <a:rPr lang="fr-CA" b="0" i="0" smtClean="0">
                                    <a:latin typeface="Cambria Math" panose="02040503050406030204" pitchFamily="18" charset="0"/>
                                    <a:ea typeface="Cambria" panose="02040503050406030204" pitchFamily="18" charset="0"/>
                                  </a:rPr>
                                  <m:t> </m:t>
                                </m:r>
                                <m:r>
                                  <m:rPr>
                                    <m:nor/>
                                  </m:rPr>
                                  <a:rPr lang="fr-CA" b="0" i="0" smtClean="0">
                                    <a:latin typeface="Cambria Math" panose="02040503050406030204" pitchFamily="18" charset="0"/>
                                    <a:ea typeface="Cambria" panose="02040503050406030204" pitchFamily="18" charset="0"/>
                                  </a:rPr>
                                  <m:t>impair</m:t>
                                </m:r>
                              </m:e>
                            </m:mr>
                            <m:mr>
                              <m:e>
                                <m:f>
                                  <m:fPr>
                                    <m:ctrlPr>
                                      <a:rPr lang="fr-CA" b="0" i="1" smtClean="0">
                                        <a:latin typeface="Cambria Math" panose="02040503050406030204" pitchFamily="18" charset="0"/>
                                        <a:ea typeface="Cambria" panose="02040503050406030204" pitchFamily="18" charset="0"/>
                                      </a:rPr>
                                    </m:ctrlPr>
                                  </m:fPr>
                                  <m:num>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𝑛</m:t>
                                        </m:r>
                                      </m:sub>
                                    </m:sSub>
                                  </m:num>
                                  <m:den>
                                    <m:r>
                                      <a:rPr lang="fr-CA" b="0" i="1" smtClean="0">
                                        <a:latin typeface="Cambria Math" panose="02040503050406030204" pitchFamily="18" charset="0"/>
                                        <a:ea typeface="Cambria" panose="02040503050406030204" pitchFamily="18" charset="0"/>
                                      </a:rPr>
                                      <m:t>2</m:t>
                                    </m:r>
                                  </m:den>
                                </m:f>
                              </m:e>
                              <m:e>
                                <m:r>
                                  <m:rPr>
                                    <m:nor/>
                                  </m:rPr>
                                  <a:rPr lang="fr-CA" b="0" i="0" smtClean="0">
                                    <a:latin typeface="Cambria Math" panose="02040503050406030204" pitchFamily="18" charset="0"/>
                                    <a:ea typeface="Cambria" panose="02040503050406030204" pitchFamily="18" charset="0"/>
                                  </a:rPr>
                                  <m:t>si</m:t>
                                </m:r>
                                <m:r>
                                  <a:rPr lang="fr-CA" b="0" i="1" smtClean="0">
                                    <a:latin typeface="Cambria Math" panose="02040503050406030204" pitchFamily="18" charset="0"/>
                                    <a:ea typeface="Cambria" panose="02040503050406030204" pitchFamily="18" charset="0"/>
                                  </a:rPr>
                                  <m:t> </m:t>
                                </m:r>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𝑛</m:t>
                                    </m:r>
                                  </m:sub>
                                </m:sSub>
                                <m:r>
                                  <a:rPr lang="fr-CA" b="0" i="1" smtClean="0">
                                    <a:latin typeface="Cambria Math" panose="02040503050406030204" pitchFamily="18" charset="0"/>
                                    <a:ea typeface="Cambria" panose="02040503050406030204" pitchFamily="18" charset="0"/>
                                  </a:rPr>
                                  <m:t> </m:t>
                                </m:r>
                                <m:r>
                                  <m:rPr>
                                    <m:nor/>
                                  </m:rPr>
                                  <a:rPr lang="fr-CA" b="0" i="0" smtClean="0">
                                    <a:latin typeface="Cambria Math" panose="02040503050406030204" pitchFamily="18" charset="0"/>
                                    <a:ea typeface="Cambria" panose="02040503050406030204" pitchFamily="18" charset="0"/>
                                  </a:rPr>
                                  <m:t>est</m:t>
                                </m:r>
                                <m:r>
                                  <m:rPr>
                                    <m:nor/>
                                  </m:rPr>
                                  <a:rPr lang="fr-CA" b="0" i="0" smtClean="0">
                                    <a:latin typeface="Cambria Math" panose="02040503050406030204" pitchFamily="18" charset="0"/>
                                    <a:ea typeface="Cambria" panose="02040503050406030204" pitchFamily="18" charset="0"/>
                                  </a:rPr>
                                  <m:t> </m:t>
                                </m:r>
                                <m:r>
                                  <m:rPr>
                                    <m:nor/>
                                  </m:rPr>
                                  <a:rPr lang="fr-CA" b="0" i="0" smtClean="0">
                                    <a:latin typeface="Cambria Math" panose="02040503050406030204" pitchFamily="18" charset="0"/>
                                    <a:ea typeface="Cambria" panose="02040503050406030204" pitchFamily="18" charset="0"/>
                                  </a:rPr>
                                  <m:t>pair</m:t>
                                </m:r>
                              </m:e>
                            </m:mr>
                          </m:m>
                        </m:e>
                      </m:d>
                    </m:oMath>
                  </m:oMathPara>
                </a14:m>
                <a:endParaRPr lang="fr-CA" b="0" dirty="0">
                  <a:latin typeface="Cambria" panose="02040503050406030204" pitchFamily="18" charset="0"/>
                  <a:ea typeface="Cambria" panose="02040503050406030204" pitchFamily="18" charset="0"/>
                </a:endParaRPr>
              </a:p>
              <a:p>
                <a:pPr marL="0" indent="0">
                  <a:buNone/>
                </a:pPr>
                <a:endParaRPr lang="fr-CA" dirty="0">
                  <a:latin typeface="Cambria" panose="02040503050406030204" pitchFamily="18" charset="0"/>
                  <a:ea typeface="Cambria" panose="02040503050406030204" pitchFamily="18" charset="0"/>
                </a:endParaRPr>
              </a:p>
              <a:p>
                <a:pPr marL="0" indent="0">
                  <a:buNone/>
                </a:pPr>
                <a:r>
                  <a:rPr lang="fr-CA" b="0" dirty="0">
                    <a:latin typeface="Cambria" panose="02040503050406030204" pitchFamily="18" charset="0"/>
                    <a:ea typeface="Cambria" panose="02040503050406030204" pitchFamily="18" charset="0"/>
                  </a:rPr>
                  <a:t>Si </a:t>
                </a:r>
                <a14:m>
                  <m:oMath xmlns:m="http://schemas.openxmlformats.org/officeDocument/2006/math">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1</m:t>
                        </m:r>
                      </m:sub>
                    </m:sSub>
                    <m:r>
                      <a:rPr lang="fr-CA" b="0" i="1" smtClean="0">
                        <a:latin typeface="Cambria Math" panose="02040503050406030204" pitchFamily="18" charset="0"/>
                        <a:ea typeface="Cambria" panose="02040503050406030204" pitchFamily="18" charset="0"/>
                      </a:rPr>
                      <m:t>=52</m:t>
                    </m:r>
                  </m:oMath>
                </a14:m>
                <a:r>
                  <a:rPr lang="fr-CA" b="0" dirty="0">
                    <a:latin typeface="Cambria" panose="02040503050406030204" pitchFamily="18" charset="0"/>
                    <a:ea typeface="Cambria" panose="02040503050406030204" pitchFamily="18" charset="0"/>
                  </a:rPr>
                  <a:t>, on a la suite</a:t>
                </a:r>
              </a:p>
              <a:p>
                <a:pPr marL="0" indent="0">
                  <a:buNone/>
                </a:pPr>
                <a:endParaRPr lang="fr-CA" b="0" dirty="0">
                  <a:latin typeface="Cambria" panose="02040503050406030204" pitchFamily="18" charset="0"/>
                  <a:ea typeface="Cambria" panose="02040503050406030204" pitchFamily="18" charset="0"/>
                </a:endParaRPr>
              </a:p>
              <a:p>
                <a:pPr marL="457200" lvl="1" indent="0">
                  <a:buNone/>
                </a:pPr>
                <a14:m>
                  <m:oMathPara xmlns:m="http://schemas.openxmlformats.org/officeDocument/2006/math">
                    <m:oMathParaPr>
                      <m:jc m:val="left"/>
                    </m:oMathParaPr>
                    <m:oMath xmlns:m="http://schemas.openxmlformats.org/officeDocument/2006/math">
                      <m:r>
                        <a:rPr lang="fr-CA" sz="2800" b="0" i="1" smtClean="0">
                          <a:latin typeface="Cambria Math" panose="02040503050406030204" pitchFamily="18" charset="0"/>
                          <a:ea typeface="Cambria" panose="02040503050406030204" pitchFamily="18" charset="0"/>
                        </a:rPr>
                        <m:t>52, 26, 13, 40, 20, 10, 5, 16, 8, 4, 2, 1, 4, 2, 1, 4, 2, 1, …</m:t>
                      </m:r>
                    </m:oMath>
                  </m:oMathPara>
                </a14:m>
                <a:endParaRPr lang="fr-CA" sz="2800" b="0" dirty="0">
                  <a:latin typeface="Cambria" panose="02040503050406030204" pitchFamily="18" charset="0"/>
                  <a:ea typeface="Cambria" panose="02040503050406030204" pitchFamily="18" charset="0"/>
                </a:endParaRPr>
              </a:p>
            </p:txBody>
          </p:sp>
        </mc:Choice>
        <mc:Fallback>
          <p:sp>
            <p:nvSpPr>
              <p:cNvPr id="3" name="Espace réservé du contenu 2">
                <a:extLst>
                  <a:ext uri="{FF2B5EF4-FFF2-40B4-BE49-F238E27FC236}">
                    <a16:creationId xmlns:a16="http://schemas.microsoft.com/office/drawing/2014/main" id="{6CB20A26-72A3-03F0-7351-F460AAB552FF}"/>
                  </a:ext>
                </a:extLst>
              </p:cNvPr>
              <p:cNvSpPr>
                <a:spLocks noGrp="1" noRot="1" noChangeAspect="1" noMove="1" noResize="1" noEditPoints="1" noAdjustHandles="1" noChangeArrowheads="1" noChangeShapeType="1" noTextEdit="1"/>
              </p:cNvSpPr>
              <p:nvPr>
                <p:ph idx="1"/>
              </p:nvPr>
            </p:nvSpPr>
            <p:spPr>
              <a:xfrm>
                <a:off x="0" y="954505"/>
                <a:ext cx="12192000" cy="5903495"/>
              </a:xfrm>
              <a:blipFill>
                <a:blip r:embed="rId2"/>
                <a:stretch>
                  <a:fillRect l="-1000"/>
                </a:stretch>
              </a:blipFill>
            </p:spPr>
            <p:txBody>
              <a:bodyPr/>
              <a:lstStyle/>
              <a:p>
                <a:r>
                  <a:rPr lang="fr-CA">
                    <a:noFill/>
                  </a:rPr>
                  <a:t> </a:t>
                </a:r>
              </a:p>
            </p:txBody>
          </p:sp>
        </mc:Fallback>
      </mc:AlternateContent>
    </p:spTree>
    <p:extLst>
      <p:ext uri="{BB962C8B-B14F-4D97-AF65-F5344CB8AC3E}">
        <p14:creationId xmlns:p14="http://schemas.microsoft.com/office/powerpoint/2010/main" val="4207466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AD7EF-C648-3598-D646-AF00C5FB7A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BD2C37-8099-CE84-2711-1D883794FE73}"/>
              </a:ext>
            </a:extLst>
          </p:cNvPr>
          <p:cNvSpPr>
            <a:spLocks noGrp="1"/>
          </p:cNvSpPr>
          <p:nvPr>
            <p:ph type="title"/>
          </p:nvPr>
        </p:nvSpPr>
        <p:spPr>
          <a:xfrm>
            <a:off x="0" y="0"/>
            <a:ext cx="12192000" cy="858254"/>
          </a:xfrm>
        </p:spPr>
        <p:txBody>
          <a:bodyPr>
            <a:normAutofit fontScale="90000"/>
          </a:bodyPr>
          <a:lstStyle/>
          <a:p>
            <a:r>
              <a:rPr lang="fr-CA" b="1" dirty="0">
                <a:solidFill>
                  <a:srgbClr val="C00000"/>
                </a:solidFill>
                <a:latin typeface="Cambria" panose="02040503050406030204" pitchFamily="18" charset="0"/>
                <a:ea typeface="Cambria" panose="02040503050406030204" pitchFamily="18" charset="0"/>
              </a:rPr>
              <a:t>Séries numériques | Calculer l’aire sous la courbe</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ED7398B2-8BE8-527A-6811-2EEAA2B39CF3}"/>
                  </a:ext>
                </a:extLst>
              </p:cNvPr>
              <p:cNvSpPr>
                <a:spLocks noGrp="1"/>
              </p:cNvSpPr>
              <p:nvPr>
                <p:ph idx="1"/>
              </p:nvPr>
            </p:nvSpPr>
            <p:spPr>
              <a:xfrm>
                <a:off x="0" y="954505"/>
                <a:ext cx="12192000" cy="5903495"/>
              </a:xfrm>
            </p:spPr>
            <p:txBody>
              <a:bodyPr>
                <a:normAutofit/>
              </a:bodyPr>
              <a:lstStyle/>
              <a:p>
                <a:pPr marL="0" indent="0">
                  <a:buNone/>
                </a:pPr>
                <a14:m>
                  <m:oMathPara xmlns:m="http://schemas.openxmlformats.org/officeDocument/2006/math">
                    <m:oMathParaPr>
                      <m:jc m:val="left"/>
                    </m:oMathParaPr>
                    <m:oMath xmlns:m="http://schemas.openxmlformats.org/officeDocument/2006/math">
                      <m:nary>
                        <m:naryPr>
                          <m:ctrlPr>
                            <a:rPr lang="fr-CA" sz="2800" b="0" i="1" smtClean="0">
                              <a:latin typeface="Cambria Math" panose="02040503050406030204" pitchFamily="18" charset="0"/>
                              <a:ea typeface="Cambria" panose="02040503050406030204" pitchFamily="18" charset="0"/>
                            </a:rPr>
                          </m:ctrlPr>
                        </m:naryPr>
                        <m:sub>
                          <m:r>
                            <m:rPr>
                              <m:brk m:alnAt="23"/>
                            </m:rPr>
                            <a:rPr lang="fr-CA" sz="2800" b="0" i="1" smtClean="0">
                              <a:latin typeface="Cambria Math" panose="02040503050406030204" pitchFamily="18" charset="0"/>
                              <a:ea typeface="Cambria" panose="02040503050406030204" pitchFamily="18" charset="0"/>
                            </a:rPr>
                            <m:t>0</m:t>
                          </m:r>
                        </m:sub>
                        <m:sup>
                          <m:r>
                            <a:rPr lang="fr-CA" sz="2800" b="0" i="1" smtClean="0">
                              <a:latin typeface="Cambria Math" panose="02040503050406030204" pitchFamily="18" charset="0"/>
                              <a:ea typeface="Cambria" panose="02040503050406030204" pitchFamily="18" charset="0"/>
                            </a:rPr>
                            <m:t>1</m:t>
                          </m:r>
                        </m:sup>
                        <m:e>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𝑥</m:t>
                              </m:r>
                            </m:e>
                            <m:sup>
                              <m:r>
                                <a:rPr lang="fr-CA" sz="2800" b="0" i="1" smtClean="0">
                                  <a:latin typeface="Cambria Math" panose="02040503050406030204" pitchFamily="18" charset="0"/>
                                  <a:ea typeface="Cambria" panose="02040503050406030204" pitchFamily="18" charset="0"/>
                                </a:rPr>
                                <m:t>2</m:t>
                              </m:r>
                            </m:sup>
                          </m:sSup>
                          <m:r>
                            <a:rPr lang="fr-CA" sz="2800" b="0" i="1" smtClean="0">
                              <a:latin typeface="Cambria Math" panose="02040503050406030204" pitchFamily="18" charset="0"/>
                              <a:ea typeface="Cambria" panose="02040503050406030204" pitchFamily="18" charset="0"/>
                            </a:rPr>
                            <m:t> </m:t>
                          </m:r>
                          <m:r>
                            <a:rPr lang="fr-CA" sz="2800" b="0" i="1" smtClean="0">
                              <a:latin typeface="Cambria Math" panose="02040503050406030204" pitchFamily="18" charset="0"/>
                              <a:ea typeface="Cambria" panose="02040503050406030204" pitchFamily="18" charset="0"/>
                            </a:rPr>
                            <m:t>𝑑𝑥</m:t>
                          </m:r>
                        </m:e>
                      </m:nary>
                      <m:r>
                        <a:rPr lang="fr-CA" sz="2800" b="0" i="1" smtClean="0">
                          <a:latin typeface="Cambria Math" panose="02040503050406030204" pitchFamily="18" charset="0"/>
                          <a:ea typeface="Cambria" panose="02040503050406030204" pitchFamily="18" charset="0"/>
                        </a:rPr>
                        <m:t>=</m:t>
                      </m:r>
                      <m:func>
                        <m:funcPr>
                          <m:ctrlPr>
                            <a:rPr lang="fr-CA" sz="2800" b="0" i="1" smtClean="0">
                              <a:latin typeface="Cambria Math" panose="02040503050406030204" pitchFamily="18" charset="0"/>
                              <a:ea typeface="Cambria" panose="02040503050406030204" pitchFamily="18" charset="0"/>
                            </a:rPr>
                          </m:ctrlPr>
                        </m:funcPr>
                        <m:fName>
                          <m:limLow>
                            <m:limLowPr>
                              <m:ctrlPr>
                                <a:rPr lang="fr-CA" sz="2800" b="0" i="1" smtClean="0">
                                  <a:latin typeface="Cambria Math" panose="02040503050406030204" pitchFamily="18" charset="0"/>
                                  <a:ea typeface="Cambria" panose="02040503050406030204" pitchFamily="18" charset="0"/>
                                </a:rPr>
                              </m:ctrlPr>
                            </m:limLowPr>
                            <m:e>
                              <m:r>
                                <m:rPr>
                                  <m:sty m:val="p"/>
                                </m:rPr>
                                <a:rPr lang="fr-CA" sz="2800" b="0" i="0" smtClean="0">
                                  <a:latin typeface="Cambria Math" panose="02040503050406030204" pitchFamily="18" charset="0"/>
                                  <a:ea typeface="Cambria" panose="02040503050406030204" pitchFamily="18" charset="0"/>
                                </a:rPr>
                                <m:t>lim</m:t>
                              </m:r>
                            </m:e>
                            <m:lim>
                              <m: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m:t>
                              </m:r>
                            </m:lim>
                          </m:limLow>
                        </m:fName>
                        <m:e>
                          <m:nary>
                            <m:naryPr>
                              <m:chr m:val="∑"/>
                              <m:ctrlPr>
                                <a:rPr lang="fr-CA" sz="2800" b="0" i="1" smtClean="0">
                                  <a:latin typeface="Cambria Math" panose="02040503050406030204" pitchFamily="18" charset="0"/>
                                  <a:ea typeface="Cambria" panose="02040503050406030204" pitchFamily="18" charset="0"/>
                                </a:rPr>
                              </m:ctrlPr>
                            </m:naryPr>
                            <m:sub>
                              <m:r>
                                <m:rPr>
                                  <m:brk m:alnAt="23"/>
                                </m:rPr>
                                <a:rPr lang="fr-CA" sz="2800" b="0" i="1" smtClean="0">
                                  <a:latin typeface="Cambria Math" panose="02040503050406030204" pitchFamily="18" charset="0"/>
                                  <a:ea typeface="Cambria" panose="02040503050406030204" pitchFamily="18" charset="0"/>
                                </a:rPr>
                                <m:t>𝑖</m:t>
                              </m:r>
                              <m:r>
                                <a:rPr lang="fr-CA" sz="2800" b="0" i="1" smtClean="0">
                                  <a:latin typeface="Cambria Math" panose="02040503050406030204" pitchFamily="18" charset="0"/>
                                  <a:ea typeface="Cambria" panose="02040503050406030204" pitchFamily="18" charset="0"/>
                                </a:rPr>
                                <m:t>=1</m:t>
                              </m:r>
                            </m:sub>
                            <m:sup>
                              <m:r>
                                <a:rPr lang="fr-CA" sz="2800" b="0" i="1" smtClean="0">
                                  <a:latin typeface="Cambria Math" panose="02040503050406030204" pitchFamily="18" charset="0"/>
                                  <a:ea typeface="Cambria" panose="02040503050406030204" pitchFamily="18" charset="0"/>
                                </a:rPr>
                                <m:t>𝑛</m:t>
                              </m:r>
                            </m:sup>
                            <m:e>
                              <m:f>
                                <m:fPr>
                                  <m:ctrlPr>
                                    <a:rPr lang="fr-CA" sz="2800" b="0" i="1" smtClean="0">
                                      <a:latin typeface="Cambria Math" panose="02040503050406030204" pitchFamily="18" charset="0"/>
                                      <a:ea typeface="Cambria" panose="02040503050406030204" pitchFamily="18" charset="0"/>
                                    </a:rPr>
                                  </m:ctrlPr>
                                </m:fPr>
                                <m:num>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𝑖</m:t>
                                      </m:r>
                                    </m:e>
                                    <m:sup>
                                      <m:r>
                                        <a:rPr lang="fr-CA" sz="2800" b="0" i="1" smtClean="0">
                                          <a:latin typeface="Cambria Math" panose="02040503050406030204" pitchFamily="18" charset="0"/>
                                          <a:ea typeface="Cambria" panose="02040503050406030204" pitchFamily="18" charset="0"/>
                                        </a:rPr>
                                        <m:t>2</m:t>
                                      </m:r>
                                    </m:sup>
                                  </m:sSup>
                                </m:num>
                                <m:den>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𝑛</m:t>
                                      </m:r>
                                    </m:e>
                                    <m:sup>
                                      <m:r>
                                        <a:rPr lang="fr-CA" sz="2800" b="0" i="1" smtClean="0">
                                          <a:latin typeface="Cambria Math" panose="02040503050406030204" pitchFamily="18" charset="0"/>
                                          <a:ea typeface="Cambria" panose="02040503050406030204" pitchFamily="18" charset="0"/>
                                        </a:rPr>
                                        <m:t>3</m:t>
                                      </m:r>
                                    </m:sup>
                                  </m:sSup>
                                </m:den>
                              </m:f>
                            </m:e>
                          </m:nary>
                        </m:e>
                      </m:func>
                    </m:oMath>
                  </m:oMathPara>
                </a14:m>
                <a:endParaRPr lang="fr-CA" sz="2800" b="0" dirty="0">
                  <a:latin typeface="Cambria" panose="02040503050406030204" pitchFamily="18" charset="0"/>
                  <a:ea typeface="Cambria" panose="02040503050406030204" pitchFamily="18" charset="0"/>
                </a:endParaRPr>
              </a:p>
            </p:txBody>
          </p:sp>
        </mc:Choice>
        <mc:Fallback>
          <p:sp>
            <p:nvSpPr>
              <p:cNvPr id="3" name="Espace réservé du contenu 2">
                <a:extLst>
                  <a:ext uri="{FF2B5EF4-FFF2-40B4-BE49-F238E27FC236}">
                    <a16:creationId xmlns:a16="http://schemas.microsoft.com/office/drawing/2014/main" id="{ED7398B2-8BE8-527A-6811-2EEAA2B39CF3}"/>
                  </a:ext>
                </a:extLst>
              </p:cNvPr>
              <p:cNvSpPr>
                <a:spLocks noGrp="1" noRot="1" noChangeAspect="1" noMove="1" noResize="1" noEditPoints="1" noAdjustHandles="1" noChangeArrowheads="1" noChangeShapeType="1" noTextEdit="1"/>
              </p:cNvSpPr>
              <p:nvPr>
                <p:ph idx="1"/>
              </p:nvPr>
            </p:nvSpPr>
            <p:spPr>
              <a:xfrm>
                <a:off x="0" y="954505"/>
                <a:ext cx="12192000" cy="5903495"/>
              </a:xfrm>
              <a:blipFill>
                <a:blip r:embed="rId2"/>
                <a:stretch>
                  <a:fillRect/>
                </a:stretch>
              </a:blipFill>
            </p:spPr>
            <p:txBody>
              <a:bodyPr/>
              <a:lstStyle/>
              <a:p>
                <a:r>
                  <a:rPr lang="fr-CA">
                    <a:noFill/>
                  </a:rPr>
                  <a:t> </a:t>
                </a:r>
              </a:p>
            </p:txBody>
          </p:sp>
        </mc:Fallback>
      </mc:AlternateContent>
      <p:pic>
        <p:nvPicPr>
          <p:cNvPr id="7" name="Image 6">
            <a:extLst>
              <a:ext uri="{FF2B5EF4-FFF2-40B4-BE49-F238E27FC236}">
                <a16:creationId xmlns:a16="http://schemas.microsoft.com/office/drawing/2014/main" id="{892340D0-8D0C-ACEA-0A7A-8F0D92DF13F0}"/>
              </a:ext>
            </a:extLst>
          </p:cNvPr>
          <p:cNvPicPr>
            <a:picLocks noChangeAspect="1"/>
          </p:cNvPicPr>
          <p:nvPr/>
        </p:nvPicPr>
        <p:blipFill>
          <a:blip r:embed="rId3"/>
          <a:stretch>
            <a:fillRect/>
          </a:stretch>
        </p:blipFill>
        <p:spPr>
          <a:xfrm>
            <a:off x="4419320" y="1066801"/>
            <a:ext cx="7196160" cy="5430000"/>
          </a:xfrm>
          <a:prstGeom prst="rect">
            <a:avLst/>
          </a:prstGeom>
        </p:spPr>
      </p:pic>
    </p:spTree>
    <p:extLst>
      <p:ext uri="{BB962C8B-B14F-4D97-AF65-F5344CB8AC3E}">
        <p14:creationId xmlns:p14="http://schemas.microsoft.com/office/powerpoint/2010/main" val="2226763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0D1FB-5979-E24C-3CB3-075B9D3AEF2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2B4A3F-09A1-77BF-BAA6-0FCF182032D9}"/>
              </a:ext>
            </a:extLst>
          </p:cNvPr>
          <p:cNvSpPr>
            <a:spLocks noGrp="1"/>
          </p:cNvSpPr>
          <p:nvPr>
            <p:ph type="title"/>
          </p:nvPr>
        </p:nvSpPr>
        <p:spPr>
          <a:xfrm>
            <a:off x="0" y="0"/>
            <a:ext cx="12192000" cy="858254"/>
          </a:xfrm>
        </p:spPr>
        <p:txBody>
          <a:bodyPr>
            <a:normAutofit fontScale="90000"/>
          </a:bodyPr>
          <a:lstStyle/>
          <a:p>
            <a:r>
              <a:rPr lang="fr-CA" b="1" dirty="0">
                <a:solidFill>
                  <a:srgbClr val="C00000"/>
                </a:solidFill>
                <a:latin typeface="Cambria" panose="02040503050406030204" pitchFamily="18" charset="0"/>
                <a:ea typeface="Cambria" panose="02040503050406030204" pitchFamily="18" charset="0"/>
              </a:rPr>
              <a:t>Séries numériques | Calculer des intérêts composés</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A183DA65-CB6F-7DCA-D8C2-B772F099059E}"/>
                  </a:ext>
                </a:extLst>
              </p:cNvPr>
              <p:cNvSpPr>
                <a:spLocks noGrp="1"/>
              </p:cNvSpPr>
              <p:nvPr>
                <p:ph idx="1"/>
              </p:nvPr>
            </p:nvSpPr>
            <p:spPr>
              <a:xfrm>
                <a:off x="0" y="954505"/>
                <a:ext cx="12192000" cy="5903495"/>
              </a:xfrm>
            </p:spPr>
            <p:txBody>
              <a:bodyPr>
                <a:normAutofit/>
              </a:bodyPr>
              <a:lstStyle/>
              <a:p>
                <a:pPr marL="0" indent="0">
                  <a:lnSpc>
                    <a:spcPct val="100000"/>
                  </a:lnSpc>
                  <a:buNone/>
                </a:pPr>
                <a:r>
                  <a:rPr lang="fr-CA" sz="2800" b="0" dirty="0">
                    <a:latin typeface="Cambria" panose="02040503050406030204" pitchFamily="18" charset="0"/>
                    <a:ea typeface="Cambria" panose="02040503050406030204" pitchFamily="18" charset="0"/>
                  </a:rPr>
                  <a:t>Dépôt de 1 000 $ à la banque à chaque année, intérêts de 10 % par année</a:t>
                </a:r>
              </a:p>
              <a:p>
                <a:pPr marL="0" indent="0">
                  <a:lnSpc>
                    <a:spcPct val="100000"/>
                  </a:lnSpc>
                  <a:buNone/>
                </a:pPr>
                <a14:m>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𝑚</m:t>
                        </m:r>
                      </m:e>
                      <m:sub>
                        <m:r>
                          <a:rPr lang="fr-CA" sz="2800" b="0" i="1" smtClean="0">
                            <a:latin typeface="Cambria Math" panose="02040503050406030204" pitchFamily="18" charset="0"/>
                            <a:ea typeface="Cambria" panose="02040503050406030204" pitchFamily="18" charset="0"/>
                          </a:rPr>
                          <m:t>𝑛</m:t>
                        </m:r>
                      </m:sub>
                    </m:sSub>
                  </m:oMath>
                </a14:m>
                <a:r>
                  <a:rPr lang="fr-CA" sz="2800" b="0" dirty="0">
                    <a:latin typeface="Cambria" panose="02040503050406030204" pitchFamily="18" charset="0"/>
                    <a:ea typeface="Cambria" panose="02040503050406030204" pitchFamily="18" charset="0"/>
                  </a:rPr>
                  <a:t> : Montant après </a:t>
                </a:r>
                <a14:m>
                  <m:oMath xmlns:m="http://schemas.openxmlformats.org/officeDocument/2006/math">
                    <m:r>
                      <a:rPr lang="fr-CA" sz="2800" b="0" i="1" smtClean="0">
                        <a:latin typeface="Cambria Math" panose="02040503050406030204" pitchFamily="18" charset="0"/>
                        <a:ea typeface="Cambria" panose="02040503050406030204" pitchFamily="18" charset="0"/>
                      </a:rPr>
                      <m:t>𝑛</m:t>
                    </m:r>
                  </m:oMath>
                </a14:m>
                <a:r>
                  <a:rPr lang="fr-CA" sz="2800" b="0" dirty="0">
                    <a:latin typeface="Cambria" panose="02040503050406030204" pitchFamily="18" charset="0"/>
                    <a:ea typeface="Cambria" panose="02040503050406030204" pitchFamily="18" charset="0"/>
                  </a:rPr>
                  <a:t> années</a:t>
                </a:r>
              </a:p>
              <a:p>
                <a:pPr marL="0" indent="0">
                  <a:lnSpc>
                    <a:spcPct val="100000"/>
                  </a:lnSpc>
                  <a:buNone/>
                </a:pPr>
                <a:endParaRPr lang="fr-CA" sz="2800" b="0" i="1" dirty="0">
                  <a:latin typeface="Cambria Math" panose="02040503050406030204" pitchFamily="18" charset="0"/>
                  <a:ea typeface="Cambria"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𝑚</m:t>
                          </m:r>
                        </m:e>
                        <m:sub>
                          <m:r>
                            <a:rPr lang="fr-CA" sz="2800" b="0" i="1" smtClean="0">
                              <a:latin typeface="Cambria Math" panose="02040503050406030204" pitchFamily="18" charset="0"/>
                              <a:ea typeface="Cambria" panose="02040503050406030204" pitchFamily="18" charset="0"/>
                            </a:rPr>
                            <m:t>0</m:t>
                          </m:r>
                        </m:sub>
                      </m:sSub>
                      <m:r>
                        <a:rPr lang="fr-CA" sz="2800" b="0" i="1" smtClean="0">
                          <a:latin typeface="Cambria Math" panose="02040503050406030204" pitchFamily="18" charset="0"/>
                          <a:ea typeface="Cambria" panose="02040503050406030204" pitchFamily="18" charset="0"/>
                        </a:rPr>
                        <m:t>=1 000</m:t>
                      </m:r>
                    </m:oMath>
                  </m:oMathPara>
                </a14:m>
                <a:endParaRPr lang="fr-CA" sz="2800" b="0" dirty="0">
                  <a:latin typeface="Cambria" panose="02040503050406030204" pitchFamily="18" charset="0"/>
                  <a:ea typeface="Cambria" panose="02040503050406030204" pitchFamily="18" charset="0"/>
                </a:endParaRPr>
              </a:p>
              <a:p>
                <a:pPr marL="0" indent="0">
                  <a:lnSpc>
                    <a:spcPct val="100000"/>
                  </a:lnSpc>
                  <a:buNone/>
                </a:pPr>
                <a:endParaRPr lang="fr-CA" sz="2800" b="0" i="1" dirty="0">
                  <a:latin typeface="Cambria Math" panose="02040503050406030204" pitchFamily="18" charset="0"/>
                  <a:ea typeface="Cambria"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𝑚</m:t>
                          </m:r>
                        </m:e>
                        <m:sub>
                          <m:r>
                            <a:rPr lang="fr-CA" sz="2800" b="0" i="1" smtClean="0">
                              <a:latin typeface="Cambria Math" panose="02040503050406030204" pitchFamily="18" charset="0"/>
                              <a:ea typeface="Cambria" panose="02040503050406030204" pitchFamily="18" charset="0"/>
                            </a:rPr>
                            <m:t>1</m:t>
                          </m:r>
                        </m:sub>
                      </m:sSub>
                      <m:r>
                        <a:rPr lang="fr-CA" sz="2800" b="0" i="1" smtClean="0">
                          <a:latin typeface="Cambria Math" panose="02040503050406030204" pitchFamily="18" charset="0"/>
                          <a:ea typeface="Cambria" panose="02040503050406030204" pitchFamily="18" charset="0"/>
                        </a:rPr>
                        <m:t>=</m:t>
                      </m:r>
                      <m:r>
                        <a:rPr lang="fr-CA" i="1">
                          <a:latin typeface="Cambria Math" panose="02040503050406030204" pitchFamily="18" charset="0"/>
                          <a:ea typeface="Cambria" panose="02040503050406030204" pitchFamily="18" charset="0"/>
                        </a:rPr>
                        <m:t>1 000</m:t>
                      </m:r>
                      <m:r>
                        <a:rPr lang="fr-CA" b="0" i="1" smtClean="0">
                          <a:latin typeface="Cambria Math" panose="02040503050406030204" pitchFamily="18" charset="0"/>
                          <a:ea typeface="Cambria" panose="02040503050406030204" pitchFamily="18" charset="0"/>
                        </a:rPr>
                        <m:t>+</m:t>
                      </m:r>
                      <m:r>
                        <a:rPr lang="fr-CA" i="1">
                          <a:latin typeface="Cambria Math" panose="02040503050406030204" pitchFamily="18" charset="0"/>
                          <a:ea typeface="Cambria" panose="02040503050406030204" pitchFamily="18" charset="0"/>
                        </a:rPr>
                        <m:t>1 000</m:t>
                      </m:r>
                      <m:r>
                        <a:rPr lang="fr-CA" b="0" i="1" smtClean="0">
                          <a:latin typeface="Cambria Math" panose="02040503050406030204" pitchFamily="18" charset="0"/>
                          <a:ea typeface="Cambria" panose="02040503050406030204" pitchFamily="18" charset="0"/>
                        </a:rPr>
                        <m:t>⋅</m:t>
                      </m:r>
                      <m:r>
                        <a:rPr lang="fr-CA" i="1">
                          <a:latin typeface="Cambria Math" panose="02040503050406030204" pitchFamily="18" charset="0"/>
                          <a:ea typeface="Cambria" panose="02040503050406030204" pitchFamily="18" charset="0"/>
                        </a:rPr>
                        <m:t>1,1=2 </m:t>
                      </m:r>
                      <m:r>
                        <a:rPr lang="fr-CA" b="0" i="1" smtClean="0">
                          <a:latin typeface="Cambria Math" panose="02040503050406030204" pitchFamily="18" charset="0"/>
                          <a:ea typeface="Cambria" panose="02040503050406030204" pitchFamily="18" charset="0"/>
                        </a:rPr>
                        <m:t>10</m:t>
                      </m:r>
                      <m:r>
                        <a:rPr lang="fr-CA" i="1">
                          <a:latin typeface="Cambria Math" panose="02040503050406030204" pitchFamily="18" charset="0"/>
                          <a:ea typeface="Cambria" panose="02040503050406030204" pitchFamily="18" charset="0"/>
                        </a:rPr>
                        <m:t>0</m:t>
                      </m:r>
                    </m:oMath>
                  </m:oMathPara>
                </a14:m>
                <a:endParaRPr lang="fr-CA" sz="2800" b="0" dirty="0">
                  <a:latin typeface="Cambria" panose="02040503050406030204" pitchFamily="18" charset="0"/>
                  <a:ea typeface="Cambria" panose="02040503050406030204" pitchFamily="18" charset="0"/>
                </a:endParaRPr>
              </a:p>
              <a:p>
                <a:pPr marL="0" indent="0">
                  <a:lnSpc>
                    <a:spcPct val="100000"/>
                  </a:lnSpc>
                  <a:buNone/>
                </a:pPr>
                <a:endParaRPr lang="fr-CA" sz="2800" b="0" i="1" dirty="0">
                  <a:latin typeface="Cambria Math" panose="02040503050406030204" pitchFamily="18" charset="0"/>
                  <a:ea typeface="Cambria"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𝑚</m:t>
                          </m:r>
                        </m:e>
                        <m:sub>
                          <m:r>
                            <a:rPr lang="fr-CA" sz="2800" b="0" i="1" smtClean="0">
                              <a:latin typeface="Cambria Math" panose="02040503050406030204" pitchFamily="18" charset="0"/>
                              <a:ea typeface="Cambria" panose="02040503050406030204" pitchFamily="18" charset="0"/>
                            </a:rPr>
                            <m:t>2</m:t>
                          </m:r>
                        </m:sub>
                      </m:sSub>
                      <m:r>
                        <a:rPr lang="fr-CA" sz="2800" b="0" i="1" smtClean="0">
                          <a:latin typeface="Cambria Math" panose="02040503050406030204" pitchFamily="18" charset="0"/>
                          <a:ea typeface="Cambria" panose="02040503050406030204" pitchFamily="18" charset="0"/>
                        </a:rPr>
                        <m:t>=</m:t>
                      </m:r>
                      <m:r>
                        <a:rPr lang="fr-CA" sz="2800" b="0" i="1" smtClean="0">
                          <a:latin typeface="Cambria Math" panose="02040503050406030204" pitchFamily="18" charset="0"/>
                          <a:ea typeface="Cambria" panose="02040503050406030204" pitchFamily="18" charset="0"/>
                        </a:rPr>
                        <m:t>1 000+</m:t>
                      </m:r>
                      <m:d>
                        <m:dPr>
                          <m:ctrlPr>
                            <a:rPr lang="fr-CA" sz="2800" b="0" i="1" smtClean="0">
                              <a:latin typeface="Cambria Math" panose="02040503050406030204" pitchFamily="18" charset="0"/>
                              <a:ea typeface="Cambria" panose="02040503050406030204" pitchFamily="18" charset="0"/>
                            </a:rPr>
                          </m:ctrlPr>
                        </m:dPr>
                        <m:e>
                          <m:r>
                            <a:rPr lang="fr-CA" b="0" i="1" smtClean="0">
                              <a:latin typeface="Cambria Math" panose="02040503050406030204" pitchFamily="18" charset="0"/>
                              <a:ea typeface="Cambria" panose="02040503050406030204" pitchFamily="18" charset="0"/>
                            </a:rPr>
                            <m:t>2 100</m:t>
                          </m:r>
                        </m:e>
                      </m:d>
                      <m:r>
                        <a:rPr lang="fr-CA" i="1">
                          <a:latin typeface="Cambria Math" panose="02040503050406030204" pitchFamily="18" charset="0"/>
                          <a:ea typeface="Cambria" panose="02040503050406030204" pitchFamily="18" charset="0"/>
                        </a:rPr>
                        <m:t>⋅1,1=1 000+</m:t>
                      </m:r>
                      <m:d>
                        <m:dPr>
                          <m:ctrlPr>
                            <a:rPr lang="fr-CA" i="1">
                              <a:latin typeface="Cambria Math" panose="02040503050406030204" pitchFamily="18" charset="0"/>
                              <a:ea typeface="Cambria" panose="02040503050406030204" pitchFamily="18" charset="0"/>
                            </a:rPr>
                          </m:ctrlPr>
                        </m:dPr>
                        <m:e>
                          <m:r>
                            <a:rPr lang="fr-CA" i="1">
                              <a:latin typeface="Cambria Math" panose="02040503050406030204" pitchFamily="18" charset="0"/>
                              <a:ea typeface="Cambria" panose="02040503050406030204" pitchFamily="18" charset="0"/>
                            </a:rPr>
                            <m:t>1 000+1 000⋅1,1</m:t>
                          </m:r>
                        </m:e>
                      </m:d>
                      <m:r>
                        <a:rPr lang="fr-CA" i="1">
                          <a:latin typeface="Cambria Math" panose="02040503050406030204" pitchFamily="18" charset="0"/>
                          <a:ea typeface="Cambria" panose="02040503050406030204" pitchFamily="18" charset="0"/>
                        </a:rPr>
                        <m:t>⋅1,1</m:t>
                      </m:r>
                    </m:oMath>
                  </m:oMathPara>
                </a14:m>
                <a:endParaRPr lang="fr-CA" sz="2800" b="0" i="1" dirty="0">
                  <a:latin typeface="Cambria Math" panose="02040503050406030204" pitchFamily="18" charset="0"/>
                  <a:ea typeface="Cambria"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r>
                        <a:rPr lang="fr-CA" sz="2800" b="0" i="1" smtClean="0">
                          <a:latin typeface="Cambria Math" panose="02040503050406030204" pitchFamily="18" charset="0"/>
                          <a:ea typeface="Cambria" panose="02040503050406030204" pitchFamily="18" charset="0"/>
                        </a:rPr>
                        <m:t>=</m:t>
                      </m:r>
                      <m:r>
                        <a:rPr lang="fr-CA" sz="2800" b="0" i="1" smtClean="0">
                          <a:latin typeface="Cambria Math" panose="02040503050406030204" pitchFamily="18" charset="0"/>
                          <a:ea typeface="Cambria" panose="02040503050406030204" pitchFamily="18" charset="0"/>
                        </a:rPr>
                        <m:t>1 000+</m:t>
                      </m:r>
                      <m:r>
                        <a:rPr lang="fr-CA" sz="2800" b="0" i="1" smtClean="0">
                          <a:latin typeface="Cambria Math" panose="02040503050406030204" pitchFamily="18" charset="0"/>
                          <a:ea typeface="Cambria" panose="02040503050406030204" pitchFamily="18" charset="0"/>
                        </a:rPr>
                        <m:t>1 0</m:t>
                      </m:r>
                      <m:r>
                        <a:rPr lang="fr-CA" sz="2800" b="0" i="1" smtClean="0">
                          <a:latin typeface="Cambria Math" panose="02040503050406030204" pitchFamily="18" charset="0"/>
                          <a:ea typeface="Cambria" panose="02040503050406030204" pitchFamily="18" charset="0"/>
                        </a:rPr>
                        <m:t>0</m:t>
                      </m:r>
                      <m:r>
                        <a:rPr lang="fr-CA" sz="2800" b="0" i="1" smtClean="0">
                          <a:latin typeface="Cambria Math" panose="02040503050406030204" pitchFamily="18" charset="0"/>
                          <a:ea typeface="Cambria" panose="02040503050406030204" pitchFamily="18" charset="0"/>
                        </a:rPr>
                        <m:t>0</m:t>
                      </m:r>
                      <m:r>
                        <a:rPr lang="fr-CA" sz="2800" b="0" i="1" smtClean="0">
                          <a:latin typeface="Cambria Math" panose="02040503050406030204" pitchFamily="18" charset="0"/>
                          <a:ea typeface="Cambria" panose="02040503050406030204" pitchFamily="18" charset="0"/>
                        </a:rPr>
                        <m:t>⋅1,1+1 000⋅</m:t>
                      </m:r>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1,1</m:t>
                          </m:r>
                        </m:e>
                        <m:sup>
                          <m:r>
                            <a:rPr lang="fr-CA" sz="2800" b="0" i="1" smtClean="0">
                              <a:latin typeface="Cambria Math" panose="02040503050406030204" pitchFamily="18" charset="0"/>
                              <a:ea typeface="Cambria" panose="02040503050406030204" pitchFamily="18" charset="0"/>
                            </a:rPr>
                            <m:t>2</m:t>
                          </m:r>
                        </m:sup>
                      </m:sSup>
                      <m:r>
                        <a:rPr lang="fr-CA" sz="2800" b="0" i="1" smtClean="0">
                          <a:latin typeface="Cambria Math" panose="02040503050406030204" pitchFamily="18" charset="0"/>
                          <a:ea typeface="Cambria" panose="02040503050406030204" pitchFamily="18" charset="0"/>
                        </a:rPr>
                        <m:t>=3 310</m:t>
                      </m:r>
                    </m:oMath>
                  </m:oMathPara>
                </a14:m>
                <a:endParaRPr lang="fr-CA" sz="2800" b="0" dirty="0">
                  <a:latin typeface="Cambria" panose="02040503050406030204" pitchFamily="18" charset="0"/>
                  <a:ea typeface="Cambria"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𝑚</m:t>
                          </m:r>
                        </m:e>
                        <m:sub>
                          <m:r>
                            <a:rPr lang="fr-CA" sz="2800" b="0" i="1" smtClean="0">
                              <a:latin typeface="Cambria Math" panose="02040503050406030204" pitchFamily="18" charset="0"/>
                              <a:ea typeface="Cambria" panose="02040503050406030204" pitchFamily="18" charset="0"/>
                            </a:rPr>
                            <m:t>𝑛</m:t>
                          </m:r>
                        </m:sub>
                      </m:sSub>
                      <m:r>
                        <a:rPr lang="fr-CA" sz="2800" b="0" i="1" smtClean="0">
                          <a:latin typeface="Cambria Math" panose="02040503050406030204" pitchFamily="18" charset="0"/>
                          <a:ea typeface="Cambria" panose="02040503050406030204" pitchFamily="18" charset="0"/>
                        </a:rPr>
                        <m:t>=1000+1000⋅1,1+1000⋅</m:t>
                      </m:r>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1,1</m:t>
                          </m:r>
                        </m:e>
                        <m:sup>
                          <m:r>
                            <a:rPr lang="fr-CA" sz="2800" b="0" i="1" smtClean="0">
                              <a:latin typeface="Cambria Math" panose="02040503050406030204" pitchFamily="18" charset="0"/>
                              <a:ea typeface="Cambria" panose="02040503050406030204" pitchFamily="18" charset="0"/>
                            </a:rPr>
                            <m:t>2</m:t>
                          </m:r>
                        </m:sup>
                      </m:sSup>
                      <m:r>
                        <a:rPr lang="fr-CA" sz="2800" b="0" i="1" smtClean="0">
                          <a:latin typeface="Cambria Math" panose="02040503050406030204" pitchFamily="18" charset="0"/>
                          <a:ea typeface="Cambria" panose="02040503050406030204" pitchFamily="18" charset="0"/>
                        </a:rPr>
                        <m:t>+…+1000⋅</m:t>
                      </m:r>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1,1</m:t>
                          </m:r>
                        </m:e>
                        <m:sup>
                          <m:r>
                            <a:rPr lang="fr-CA" sz="2800" b="0" i="1" smtClean="0">
                              <a:latin typeface="Cambria Math" panose="02040503050406030204" pitchFamily="18" charset="0"/>
                              <a:ea typeface="Cambria" panose="02040503050406030204" pitchFamily="18" charset="0"/>
                            </a:rPr>
                            <m:t>𝑛</m:t>
                          </m:r>
                        </m:sup>
                      </m:sSup>
                      <m:r>
                        <a:rPr lang="fr-CA" sz="2800" b="0" i="1" smtClean="0">
                          <a:latin typeface="Cambria Math" panose="02040503050406030204" pitchFamily="18" charset="0"/>
                          <a:ea typeface="Cambria" panose="02040503050406030204" pitchFamily="18" charset="0"/>
                        </a:rPr>
                        <m:t>=</m:t>
                      </m:r>
                      <m:nary>
                        <m:naryPr>
                          <m:chr m:val="∑"/>
                          <m:ctrlPr>
                            <a:rPr lang="fr-CA" sz="2800" b="0" i="1" smtClean="0">
                              <a:latin typeface="Cambria Math" panose="02040503050406030204" pitchFamily="18" charset="0"/>
                              <a:ea typeface="Cambria" panose="02040503050406030204" pitchFamily="18" charset="0"/>
                            </a:rPr>
                          </m:ctrlPr>
                        </m:naryPr>
                        <m:sub>
                          <m:r>
                            <m:rPr>
                              <m:brk m:alnAt="23"/>
                            </m:rPr>
                            <a:rPr lang="fr-CA" sz="2800" b="0" i="1" smtClean="0">
                              <a:latin typeface="Cambria Math" panose="02040503050406030204" pitchFamily="18" charset="0"/>
                              <a:ea typeface="Cambria" panose="02040503050406030204" pitchFamily="18" charset="0"/>
                            </a:rPr>
                            <m:t>𝑖</m:t>
                          </m:r>
                          <m:r>
                            <a:rPr lang="fr-CA" sz="2800" b="0" i="1" smtClean="0">
                              <a:latin typeface="Cambria Math" panose="02040503050406030204" pitchFamily="18" charset="0"/>
                              <a:ea typeface="Cambria" panose="02040503050406030204" pitchFamily="18" charset="0"/>
                            </a:rPr>
                            <m:t>=</m:t>
                          </m:r>
                          <m:r>
                            <a:rPr lang="fr-CA" sz="2800" b="0" i="1" smtClean="0">
                              <a:latin typeface="Cambria Math" panose="02040503050406030204" pitchFamily="18" charset="0"/>
                              <a:ea typeface="Cambria" panose="02040503050406030204" pitchFamily="18" charset="0"/>
                            </a:rPr>
                            <m:t>0</m:t>
                          </m:r>
                        </m:sub>
                        <m:sup>
                          <m:r>
                            <a:rPr lang="fr-CA" sz="2800" b="0" i="1" smtClean="0">
                              <a:latin typeface="Cambria Math" panose="02040503050406030204" pitchFamily="18" charset="0"/>
                              <a:ea typeface="Cambria" panose="02040503050406030204" pitchFamily="18" charset="0"/>
                            </a:rPr>
                            <m:t>𝑛</m:t>
                          </m:r>
                        </m:sup>
                        <m:e>
                          <m:r>
                            <a:rPr lang="fr-CA" sz="2800" b="0" i="1" smtClean="0">
                              <a:latin typeface="Cambria Math" panose="02040503050406030204" pitchFamily="18" charset="0"/>
                              <a:ea typeface="Cambria" panose="02040503050406030204" pitchFamily="18" charset="0"/>
                            </a:rPr>
                            <m:t>1 000⋅</m:t>
                          </m:r>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1,1</m:t>
                              </m:r>
                            </m:e>
                            <m:sup>
                              <m:r>
                                <a:rPr lang="fr-CA" sz="2800" b="0" i="1" smtClean="0">
                                  <a:latin typeface="Cambria Math" panose="02040503050406030204" pitchFamily="18" charset="0"/>
                                  <a:ea typeface="Cambria" panose="02040503050406030204" pitchFamily="18" charset="0"/>
                                </a:rPr>
                                <m:t>𝑖</m:t>
                              </m:r>
                            </m:sup>
                          </m:sSup>
                        </m:e>
                      </m:nary>
                    </m:oMath>
                  </m:oMathPara>
                </a14:m>
                <a:endParaRPr lang="fr-CA" sz="2800" b="0" dirty="0">
                  <a:latin typeface="Cambria" panose="02040503050406030204" pitchFamily="18" charset="0"/>
                  <a:ea typeface="Cambria" panose="02040503050406030204" pitchFamily="18" charset="0"/>
                </a:endParaRPr>
              </a:p>
            </p:txBody>
          </p:sp>
        </mc:Choice>
        <mc:Fallback>
          <p:sp>
            <p:nvSpPr>
              <p:cNvPr id="3" name="Espace réservé du contenu 2">
                <a:extLst>
                  <a:ext uri="{FF2B5EF4-FFF2-40B4-BE49-F238E27FC236}">
                    <a16:creationId xmlns:a16="http://schemas.microsoft.com/office/drawing/2014/main" id="{A183DA65-CB6F-7DCA-D8C2-B772F099059E}"/>
                  </a:ext>
                </a:extLst>
              </p:cNvPr>
              <p:cNvSpPr>
                <a:spLocks noGrp="1" noRot="1" noChangeAspect="1" noMove="1" noResize="1" noEditPoints="1" noAdjustHandles="1" noChangeArrowheads="1" noChangeShapeType="1" noTextEdit="1"/>
              </p:cNvSpPr>
              <p:nvPr>
                <p:ph idx="1"/>
              </p:nvPr>
            </p:nvSpPr>
            <p:spPr>
              <a:xfrm>
                <a:off x="0" y="954505"/>
                <a:ext cx="12192000" cy="5903495"/>
              </a:xfrm>
              <a:blipFill>
                <a:blip r:embed="rId2"/>
                <a:stretch>
                  <a:fillRect l="-1000" t="-1136"/>
                </a:stretch>
              </a:blipFill>
            </p:spPr>
            <p:txBody>
              <a:bodyPr/>
              <a:lstStyle/>
              <a:p>
                <a:r>
                  <a:rPr lang="fr-CA">
                    <a:noFill/>
                  </a:rPr>
                  <a:t> </a:t>
                </a:r>
              </a:p>
            </p:txBody>
          </p:sp>
        </mc:Fallback>
      </mc:AlternateContent>
    </p:spTree>
    <p:extLst>
      <p:ext uri="{BB962C8B-B14F-4D97-AF65-F5344CB8AC3E}">
        <p14:creationId xmlns:p14="http://schemas.microsoft.com/office/powerpoint/2010/main" val="4242868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3D639-48BF-5C42-9D63-184E9E25CC8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902A7B48-F5C5-0656-416B-AAF4C8773945}"/>
                  </a:ext>
                </a:extLst>
              </p:cNvPr>
              <p:cNvSpPr>
                <a:spLocks noGrp="1"/>
              </p:cNvSpPr>
              <p:nvPr>
                <p:ph type="title"/>
              </p:nvPr>
            </p:nvSpPr>
            <p:spPr>
              <a:xfrm>
                <a:off x="0" y="0"/>
                <a:ext cx="12192000" cy="858254"/>
              </a:xfrm>
            </p:spPr>
            <p:txBody>
              <a:bodyPr>
                <a:normAutofit/>
              </a:bodyPr>
              <a:lstStyle/>
              <a:p>
                <a:r>
                  <a:rPr lang="fr-CA" b="1" dirty="0">
                    <a:solidFill>
                      <a:srgbClr val="00B050"/>
                    </a:solidFill>
                    <a:latin typeface="Cambria" panose="02040503050406030204" pitchFamily="18" charset="0"/>
                    <a:ea typeface="Cambria" panose="02040503050406030204" pitchFamily="18" charset="0"/>
                  </a:rPr>
                  <a:t>Séries de Taylor | Définir </a:t>
                </a:r>
                <a14:m>
                  <m:oMath xmlns:m="http://schemas.openxmlformats.org/officeDocument/2006/math">
                    <m:r>
                      <a:rPr lang="fr-CA" b="1" i="1">
                        <a:solidFill>
                          <a:srgbClr val="00B050"/>
                        </a:solidFill>
                        <a:latin typeface="Cambria Math" panose="02040503050406030204" pitchFamily="18" charset="0"/>
                        <a:ea typeface="Cambria" panose="02040503050406030204" pitchFamily="18" charset="0"/>
                      </a:rPr>
                      <m:t>𝝅</m:t>
                    </m:r>
                  </m:oMath>
                </a14:m>
                <a:endParaRPr lang="fr-CA" b="1" dirty="0">
                  <a:solidFill>
                    <a:srgbClr val="00B050"/>
                  </a:solidFill>
                  <a:latin typeface="Cambria" panose="02040503050406030204" pitchFamily="18" charset="0"/>
                  <a:ea typeface="Cambria" panose="02040503050406030204" pitchFamily="18" charset="0"/>
                </a:endParaRPr>
              </a:p>
            </p:txBody>
          </p:sp>
        </mc:Choice>
        <mc:Fallback>
          <p:sp>
            <p:nvSpPr>
              <p:cNvPr id="2" name="Titre 1">
                <a:extLst>
                  <a:ext uri="{FF2B5EF4-FFF2-40B4-BE49-F238E27FC236}">
                    <a16:creationId xmlns:a16="http://schemas.microsoft.com/office/drawing/2014/main" id="{902A7B48-F5C5-0656-416B-AAF4C8773945}"/>
                  </a:ext>
                </a:extLst>
              </p:cNvPr>
              <p:cNvSpPr>
                <a:spLocks noGrp="1" noRot="1" noChangeAspect="1" noMove="1" noResize="1" noEditPoints="1" noAdjustHandles="1" noChangeArrowheads="1" noChangeShapeType="1" noTextEdit="1"/>
              </p:cNvSpPr>
              <p:nvPr>
                <p:ph type="title"/>
              </p:nvPr>
            </p:nvSpPr>
            <p:spPr>
              <a:xfrm>
                <a:off x="0" y="0"/>
                <a:ext cx="12192000" cy="858254"/>
              </a:xfrm>
              <a:blipFill>
                <a:blip r:embed="rId2"/>
                <a:stretch>
                  <a:fillRect l="-2000" t="-12766" b="-24113"/>
                </a:stretch>
              </a:blipFill>
            </p:spPr>
            <p:txBody>
              <a:bodyPr/>
              <a:lstStyle/>
              <a:p>
                <a:r>
                  <a:rPr lang="fr-CA">
                    <a:noFill/>
                  </a:rPr>
                  <a:t> </a:t>
                </a:r>
              </a:p>
            </p:txBody>
          </p:sp>
        </mc:Fallback>
      </mc:AlternateContent>
      <p:pic>
        <p:nvPicPr>
          <p:cNvPr id="8" name="Image 7">
            <a:extLst>
              <a:ext uri="{FF2B5EF4-FFF2-40B4-BE49-F238E27FC236}">
                <a16:creationId xmlns:a16="http://schemas.microsoft.com/office/drawing/2014/main" id="{6F0E12F5-1517-ADDF-2A09-48284B552518}"/>
              </a:ext>
            </a:extLst>
          </p:cNvPr>
          <p:cNvPicPr>
            <a:picLocks noChangeAspect="1"/>
          </p:cNvPicPr>
          <p:nvPr/>
        </p:nvPicPr>
        <p:blipFill>
          <a:blip r:embed="rId3"/>
          <a:stretch>
            <a:fillRect/>
          </a:stretch>
        </p:blipFill>
        <p:spPr>
          <a:xfrm>
            <a:off x="0" y="1680980"/>
            <a:ext cx="12192000" cy="3496040"/>
          </a:xfrm>
          <a:prstGeom prst="rect">
            <a:avLst/>
          </a:prstGeom>
        </p:spPr>
      </p:pic>
    </p:spTree>
    <p:extLst>
      <p:ext uri="{BB962C8B-B14F-4D97-AF65-F5344CB8AC3E}">
        <p14:creationId xmlns:p14="http://schemas.microsoft.com/office/powerpoint/2010/main" val="602538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7396E-C586-5B09-8D18-9CAC95AACC4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F1208B99-9F16-FA24-6C8B-1B909C6EE4D7}"/>
                  </a:ext>
                </a:extLst>
              </p:cNvPr>
              <p:cNvSpPr>
                <a:spLocks noGrp="1"/>
              </p:cNvSpPr>
              <p:nvPr>
                <p:ph type="title"/>
              </p:nvPr>
            </p:nvSpPr>
            <p:spPr>
              <a:xfrm>
                <a:off x="0" y="0"/>
                <a:ext cx="12192000" cy="858254"/>
              </a:xfrm>
            </p:spPr>
            <p:txBody>
              <a:bodyPr>
                <a:normAutofit/>
              </a:bodyPr>
              <a:lstStyle/>
              <a:p>
                <a:r>
                  <a:rPr lang="fr-CA" b="1" dirty="0">
                    <a:solidFill>
                      <a:srgbClr val="00B050"/>
                    </a:solidFill>
                    <a:latin typeface="Cambria" panose="02040503050406030204" pitchFamily="18" charset="0"/>
                    <a:ea typeface="Cambria" panose="02040503050406030204" pitchFamily="18" charset="0"/>
                  </a:rPr>
                  <a:t>Séries de Taylor | Définir </a:t>
                </a:r>
                <a14:m>
                  <m:oMath xmlns:m="http://schemas.openxmlformats.org/officeDocument/2006/math">
                    <m:r>
                      <a:rPr lang="fr-CA" b="1" i="1">
                        <a:solidFill>
                          <a:srgbClr val="00B050"/>
                        </a:solidFill>
                        <a:latin typeface="Cambria Math" panose="02040503050406030204" pitchFamily="18" charset="0"/>
                        <a:ea typeface="Cambria" panose="02040503050406030204" pitchFamily="18" charset="0"/>
                      </a:rPr>
                      <m:t>𝝅</m:t>
                    </m:r>
                  </m:oMath>
                </a14:m>
                <a:endParaRPr lang="fr-CA" b="1" dirty="0">
                  <a:solidFill>
                    <a:srgbClr val="7030A0"/>
                  </a:solidFill>
                  <a:latin typeface="Cambria" panose="02040503050406030204" pitchFamily="18" charset="0"/>
                  <a:ea typeface="Cambria" panose="02040503050406030204" pitchFamily="18" charset="0"/>
                </a:endParaRPr>
              </a:p>
            </p:txBody>
          </p:sp>
        </mc:Choice>
        <mc:Fallback>
          <p:sp>
            <p:nvSpPr>
              <p:cNvPr id="2" name="Titre 1">
                <a:extLst>
                  <a:ext uri="{FF2B5EF4-FFF2-40B4-BE49-F238E27FC236}">
                    <a16:creationId xmlns:a16="http://schemas.microsoft.com/office/drawing/2014/main" id="{F1208B99-9F16-FA24-6C8B-1B909C6EE4D7}"/>
                  </a:ext>
                </a:extLst>
              </p:cNvPr>
              <p:cNvSpPr>
                <a:spLocks noGrp="1" noRot="1" noChangeAspect="1" noMove="1" noResize="1" noEditPoints="1" noAdjustHandles="1" noChangeArrowheads="1" noChangeShapeType="1" noTextEdit="1"/>
              </p:cNvSpPr>
              <p:nvPr>
                <p:ph type="title"/>
              </p:nvPr>
            </p:nvSpPr>
            <p:spPr>
              <a:xfrm>
                <a:off x="0" y="0"/>
                <a:ext cx="12192000" cy="858254"/>
              </a:xfrm>
              <a:blipFill>
                <a:blip r:embed="rId2"/>
                <a:stretch>
                  <a:fillRect l="-2000" t="-12766" b="-24113"/>
                </a:stretch>
              </a:blipFill>
            </p:spPr>
            <p:txBody>
              <a:bodyPr/>
              <a:lstStyle/>
              <a:p>
                <a:r>
                  <a:rPr lang="fr-CA">
                    <a:noFill/>
                  </a:rPr>
                  <a:t> </a:t>
                </a:r>
              </a:p>
            </p:txBody>
          </p:sp>
        </mc:Fallback>
      </mc:AlternateContent>
      <p:pic>
        <p:nvPicPr>
          <p:cNvPr id="4" name="Image 3">
            <a:extLst>
              <a:ext uri="{FF2B5EF4-FFF2-40B4-BE49-F238E27FC236}">
                <a16:creationId xmlns:a16="http://schemas.microsoft.com/office/drawing/2014/main" id="{6A36269C-D5B0-9DBF-C6F3-BD13D76D9887}"/>
              </a:ext>
            </a:extLst>
          </p:cNvPr>
          <p:cNvPicPr>
            <a:picLocks noChangeAspect="1"/>
          </p:cNvPicPr>
          <p:nvPr/>
        </p:nvPicPr>
        <p:blipFill>
          <a:blip r:embed="rId3"/>
          <a:stretch>
            <a:fillRect/>
          </a:stretch>
        </p:blipFill>
        <p:spPr>
          <a:xfrm>
            <a:off x="0" y="1707465"/>
            <a:ext cx="12192000" cy="3443070"/>
          </a:xfrm>
          <a:prstGeom prst="rect">
            <a:avLst/>
          </a:prstGeom>
        </p:spPr>
      </p:pic>
    </p:spTree>
    <p:extLst>
      <p:ext uri="{BB962C8B-B14F-4D97-AF65-F5344CB8AC3E}">
        <p14:creationId xmlns:p14="http://schemas.microsoft.com/office/powerpoint/2010/main" val="4080067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2245-5651-5838-2A14-9B5AD3B9EC9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13C38401-177A-27A7-40A6-1E6743B86BE9}"/>
                  </a:ext>
                </a:extLst>
              </p:cNvPr>
              <p:cNvSpPr>
                <a:spLocks noGrp="1"/>
              </p:cNvSpPr>
              <p:nvPr>
                <p:ph type="title"/>
              </p:nvPr>
            </p:nvSpPr>
            <p:spPr>
              <a:xfrm>
                <a:off x="0" y="0"/>
                <a:ext cx="12192000" cy="858254"/>
              </a:xfrm>
            </p:spPr>
            <p:txBody>
              <a:bodyPr>
                <a:normAutofit/>
              </a:bodyPr>
              <a:lstStyle/>
              <a:p>
                <a:r>
                  <a:rPr lang="fr-CA" b="1" dirty="0">
                    <a:solidFill>
                      <a:srgbClr val="00B050"/>
                    </a:solidFill>
                    <a:latin typeface="Cambria" panose="02040503050406030204" pitchFamily="18" charset="0"/>
                    <a:ea typeface="Cambria" panose="02040503050406030204" pitchFamily="18" charset="0"/>
                  </a:rPr>
                  <a:t>Séries de Taylor | Définir </a:t>
                </a:r>
                <a14:m>
                  <m:oMath xmlns:m="http://schemas.openxmlformats.org/officeDocument/2006/math">
                    <m:r>
                      <a:rPr lang="fr-CA" b="1" i="1">
                        <a:solidFill>
                          <a:srgbClr val="00B050"/>
                        </a:solidFill>
                        <a:latin typeface="Cambria Math" panose="02040503050406030204" pitchFamily="18" charset="0"/>
                        <a:ea typeface="Cambria" panose="02040503050406030204" pitchFamily="18" charset="0"/>
                      </a:rPr>
                      <m:t>𝝅</m:t>
                    </m:r>
                  </m:oMath>
                </a14:m>
                <a:endParaRPr lang="fr-CA" b="1" dirty="0">
                  <a:solidFill>
                    <a:srgbClr val="00B050"/>
                  </a:solidFill>
                  <a:latin typeface="Cambria" panose="02040503050406030204" pitchFamily="18" charset="0"/>
                  <a:ea typeface="Cambria" panose="02040503050406030204" pitchFamily="18" charset="0"/>
                </a:endParaRPr>
              </a:p>
            </p:txBody>
          </p:sp>
        </mc:Choice>
        <mc:Fallback>
          <p:sp>
            <p:nvSpPr>
              <p:cNvPr id="2" name="Titre 1">
                <a:extLst>
                  <a:ext uri="{FF2B5EF4-FFF2-40B4-BE49-F238E27FC236}">
                    <a16:creationId xmlns:a16="http://schemas.microsoft.com/office/drawing/2014/main" id="{13C38401-177A-27A7-40A6-1E6743B86BE9}"/>
                  </a:ext>
                </a:extLst>
              </p:cNvPr>
              <p:cNvSpPr>
                <a:spLocks noGrp="1" noRot="1" noChangeAspect="1" noMove="1" noResize="1" noEditPoints="1" noAdjustHandles="1" noChangeArrowheads="1" noChangeShapeType="1" noTextEdit="1"/>
              </p:cNvSpPr>
              <p:nvPr>
                <p:ph type="title"/>
              </p:nvPr>
            </p:nvSpPr>
            <p:spPr>
              <a:xfrm>
                <a:off x="0" y="0"/>
                <a:ext cx="12192000" cy="858254"/>
              </a:xfrm>
              <a:blipFill>
                <a:blip r:embed="rId2"/>
                <a:stretch>
                  <a:fillRect l="-2000" t="-12766" b="-24113"/>
                </a:stretch>
              </a:blipFill>
            </p:spPr>
            <p:txBody>
              <a:bodyPr/>
              <a:lstStyle/>
              <a:p>
                <a:r>
                  <a:rPr lang="fr-CA">
                    <a:noFill/>
                  </a:rPr>
                  <a:t> </a:t>
                </a:r>
              </a:p>
            </p:txBody>
          </p:sp>
        </mc:Fallback>
      </mc:AlternateContent>
      <p:pic>
        <p:nvPicPr>
          <p:cNvPr id="5" name="Image 4">
            <a:extLst>
              <a:ext uri="{FF2B5EF4-FFF2-40B4-BE49-F238E27FC236}">
                <a16:creationId xmlns:a16="http://schemas.microsoft.com/office/drawing/2014/main" id="{077ED20D-7839-E5FC-272D-EBD3C674611E}"/>
              </a:ext>
            </a:extLst>
          </p:cNvPr>
          <p:cNvPicPr>
            <a:picLocks noChangeAspect="1"/>
          </p:cNvPicPr>
          <p:nvPr/>
        </p:nvPicPr>
        <p:blipFill>
          <a:blip r:embed="rId3"/>
          <a:stretch>
            <a:fillRect/>
          </a:stretch>
        </p:blipFill>
        <p:spPr>
          <a:xfrm>
            <a:off x="0" y="1688548"/>
            <a:ext cx="12192000" cy="3480904"/>
          </a:xfrm>
          <a:prstGeom prst="rect">
            <a:avLst/>
          </a:prstGeom>
        </p:spPr>
      </p:pic>
    </p:spTree>
    <p:extLst>
      <p:ext uri="{BB962C8B-B14F-4D97-AF65-F5344CB8AC3E}">
        <p14:creationId xmlns:p14="http://schemas.microsoft.com/office/powerpoint/2010/main" val="3848249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EB3B1-FC97-01B1-FAF8-F74B6A824AF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BE33F19D-B806-3BEA-82C8-8712A942EAEE}"/>
                  </a:ext>
                </a:extLst>
              </p:cNvPr>
              <p:cNvSpPr>
                <a:spLocks noGrp="1"/>
              </p:cNvSpPr>
              <p:nvPr>
                <p:ph type="title"/>
              </p:nvPr>
            </p:nvSpPr>
            <p:spPr>
              <a:xfrm>
                <a:off x="0" y="0"/>
                <a:ext cx="12192000" cy="858254"/>
              </a:xfrm>
            </p:spPr>
            <p:txBody>
              <a:bodyPr>
                <a:normAutofit/>
              </a:bodyPr>
              <a:lstStyle/>
              <a:p>
                <a:r>
                  <a:rPr lang="fr-CA" b="1" dirty="0">
                    <a:solidFill>
                      <a:srgbClr val="00B050"/>
                    </a:solidFill>
                    <a:latin typeface="Cambria" panose="02040503050406030204" pitchFamily="18" charset="0"/>
                    <a:ea typeface="Cambria" panose="02040503050406030204" pitchFamily="18" charset="0"/>
                  </a:rPr>
                  <a:t>Séries de Taylor | Définir </a:t>
                </a:r>
                <a14:m>
                  <m:oMath xmlns:m="http://schemas.openxmlformats.org/officeDocument/2006/math">
                    <m:r>
                      <a:rPr lang="fr-CA" b="1" i="1">
                        <a:solidFill>
                          <a:srgbClr val="00B050"/>
                        </a:solidFill>
                        <a:latin typeface="Cambria Math" panose="02040503050406030204" pitchFamily="18" charset="0"/>
                        <a:ea typeface="Cambria" panose="02040503050406030204" pitchFamily="18" charset="0"/>
                      </a:rPr>
                      <m:t>𝝅</m:t>
                    </m:r>
                  </m:oMath>
                </a14:m>
                <a:endParaRPr lang="fr-CA" b="1" dirty="0">
                  <a:solidFill>
                    <a:srgbClr val="00B050"/>
                  </a:solidFill>
                  <a:latin typeface="Cambria" panose="02040503050406030204" pitchFamily="18" charset="0"/>
                  <a:ea typeface="Cambria" panose="02040503050406030204" pitchFamily="18" charset="0"/>
                </a:endParaRPr>
              </a:p>
            </p:txBody>
          </p:sp>
        </mc:Choice>
        <mc:Fallback>
          <p:sp>
            <p:nvSpPr>
              <p:cNvPr id="2" name="Titre 1">
                <a:extLst>
                  <a:ext uri="{FF2B5EF4-FFF2-40B4-BE49-F238E27FC236}">
                    <a16:creationId xmlns:a16="http://schemas.microsoft.com/office/drawing/2014/main" id="{BE33F19D-B806-3BEA-82C8-8712A942EAEE}"/>
                  </a:ext>
                </a:extLst>
              </p:cNvPr>
              <p:cNvSpPr>
                <a:spLocks noGrp="1" noRot="1" noChangeAspect="1" noMove="1" noResize="1" noEditPoints="1" noAdjustHandles="1" noChangeArrowheads="1" noChangeShapeType="1" noTextEdit="1"/>
              </p:cNvSpPr>
              <p:nvPr>
                <p:ph type="title"/>
              </p:nvPr>
            </p:nvSpPr>
            <p:spPr>
              <a:xfrm>
                <a:off x="0" y="0"/>
                <a:ext cx="12192000" cy="858254"/>
              </a:xfrm>
              <a:blipFill>
                <a:blip r:embed="rId2"/>
                <a:stretch>
                  <a:fillRect l="-2000" t="-12766" b="-24113"/>
                </a:stretch>
              </a:blipFill>
            </p:spPr>
            <p:txBody>
              <a:bodyPr/>
              <a:lstStyle/>
              <a:p>
                <a:r>
                  <a:rPr lang="fr-CA">
                    <a:noFill/>
                  </a:rPr>
                  <a:t> </a:t>
                </a:r>
              </a:p>
            </p:txBody>
          </p:sp>
        </mc:Fallback>
      </mc:AlternateContent>
      <p:pic>
        <p:nvPicPr>
          <p:cNvPr id="4" name="Image 3">
            <a:extLst>
              <a:ext uri="{FF2B5EF4-FFF2-40B4-BE49-F238E27FC236}">
                <a16:creationId xmlns:a16="http://schemas.microsoft.com/office/drawing/2014/main" id="{21BF7F99-3D61-8EBF-33B8-534692C7FAE3}"/>
              </a:ext>
            </a:extLst>
          </p:cNvPr>
          <p:cNvPicPr>
            <a:picLocks noChangeAspect="1"/>
          </p:cNvPicPr>
          <p:nvPr/>
        </p:nvPicPr>
        <p:blipFill>
          <a:blip r:embed="rId3"/>
          <a:stretch>
            <a:fillRect/>
          </a:stretch>
        </p:blipFill>
        <p:spPr>
          <a:xfrm>
            <a:off x="0" y="1688548"/>
            <a:ext cx="12192000" cy="3480904"/>
          </a:xfrm>
          <a:prstGeom prst="rect">
            <a:avLst/>
          </a:prstGeom>
        </p:spPr>
      </p:pic>
    </p:spTree>
    <p:extLst>
      <p:ext uri="{BB962C8B-B14F-4D97-AF65-F5344CB8AC3E}">
        <p14:creationId xmlns:p14="http://schemas.microsoft.com/office/powerpoint/2010/main" val="2871530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BC074-84C7-65E6-773E-59A999046E3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E7354A71-4C0A-4A06-EE69-6387150EF34A}"/>
                  </a:ext>
                </a:extLst>
              </p:cNvPr>
              <p:cNvSpPr>
                <a:spLocks noGrp="1"/>
              </p:cNvSpPr>
              <p:nvPr>
                <p:ph type="title"/>
              </p:nvPr>
            </p:nvSpPr>
            <p:spPr>
              <a:xfrm>
                <a:off x="0" y="0"/>
                <a:ext cx="12192000" cy="858254"/>
              </a:xfrm>
            </p:spPr>
            <p:txBody>
              <a:bodyPr>
                <a:normAutofit/>
              </a:bodyPr>
              <a:lstStyle/>
              <a:p>
                <a:r>
                  <a:rPr lang="fr-CA" b="1" dirty="0">
                    <a:solidFill>
                      <a:srgbClr val="00B050"/>
                    </a:solidFill>
                    <a:latin typeface="Cambria" panose="02040503050406030204" pitchFamily="18" charset="0"/>
                    <a:ea typeface="Cambria" panose="02040503050406030204" pitchFamily="18" charset="0"/>
                  </a:rPr>
                  <a:t>Séries de Taylor | Approximer </a:t>
                </a:r>
                <a14:m>
                  <m:oMath xmlns:m="http://schemas.openxmlformats.org/officeDocument/2006/math">
                    <m:r>
                      <a:rPr lang="fr-CA" b="1" i="1" smtClean="0">
                        <a:solidFill>
                          <a:srgbClr val="00B050"/>
                        </a:solidFill>
                        <a:latin typeface="Cambria Math" panose="02040503050406030204" pitchFamily="18" charset="0"/>
                        <a:ea typeface="Cambria" panose="02040503050406030204" pitchFamily="18" charset="0"/>
                      </a:rPr>
                      <m:t>𝝅</m:t>
                    </m:r>
                  </m:oMath>
                </a14:m>
                <a:endParaRPr lang="fr-CA" b="1" dirty="0">
                  <a:solidFill>
                    <a:srgbClr val="00B050"/>
                  </a:solidFill>
                  <a:latin typeface="Cambria" panose="02040503050406030204" pitchFamily="18" charset="0"/>
                  <a:ea typeface="Cambria" panose="02040503050406030204" pitchFamily="18" charset="0"/>
                </a:endParaRPr>
              </a:p>
            </p:txBody>
          </p:sp>
        </mc:Choice>
        <mc:Fallback>
          <p:sp>
            <p:nvSpPr>
              <p:cNvPr id="2" name="Titre 1">
                <a:extLst>
                  <a:ext uri="{FF2B5EF4-FFF2-40B4-BE49-F238E27FC236}">
                    <a16:creationId xmlns:a16="http://schemas.microsoft.com/office/drawing/2014/main" id="{E7354A71-4C0A-4A06-EE69-6387150EF34A}"/>
                  </a:ext>
                </a:extLst>
              </p:cNvPr>
              <p:cNvSpPr>
                <a:spLocks noGrp="1" noRot="1" noChangeAspect="1" noMove="1" noResize="1" noEditPoints="1" noAdjustHandles="1" noChangeArrowheads="1" noChangeShapeType="1" noTextEdit="1"/>
              </p:cNvSpPr>
              <p:nvPr>
                <p:ph type="title"/>
              </p:nvPr>
            </p:nvSpPr>
            <p:spPr>
              <a:xfrm>
                <a:off x="0" y="0"/>
                <a:ext cx="12192000" cy="858254"/>
              </a:xfrm>
              <a:blipFill>
                <a:blip r:embed="rId2"/>
                <a:stretch>
                  <a:fillRect l="-2000" t="-12766" b="-24113"/>
                </a:stretch>
              </a:blipFill>
            </p:spPr>
            <p:txBody>
              <a:bodyPr/>
              <a:lstStyle/>
              <a:p>
                <a:r>
                  <a:rPr lang="fr-CA">
                    <a:noFill/>
                  </a:rPr>
                  <a:t> </a:t>
                </a:r>
              </a:p>
            </p:txBody>
          </p:sp>
        </mc:Fallback>
      </mc:AlternateContent>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60340023-7FFA-C7B4-BA91-0833F1A8900B}"/>
                  </a:ext>
                </a:extLst>
              </p:cNvPr>
              <p:cNvSpPr>
                <a:spLocks noGrp="1"/>
              </p:cNvSpPr>
              <p:nvPr>
                <p:ph idx="1"/>
              </p:nvPr>
            </p:nvSpPr>
            <p:spPr>
              <a:xfrm>
                <a:off x="0" y="954505"/>
                <a:ext cx="12192000" cy="5903495"/>
              </a:xfrm>
            </p:spPr>
            <p:txBody>
              <a:bodyPr>
                <a:normAutofit/>
              </a:bodyPr>
              <a:lstStyle/>
              <a:p>
                <a:pPr marL="0" indent="0">
                  <a:buNone/>
                </a:pPr>
                <a14:m>
                  <m:oMathPara xmlns:m="http://schemas.openxmlformats.org/officeDocument/2006/math">
                    <m:oMathParaPr>
                      <m:jc m:val="left"/>
                    </m:oMathParaPr>
                    <m:oMath xmlns:m="http://schemas.openxmlformats.org/officeDocument/2006/math">
                      <m:func>
                        <m:funcPr>
                          <m:ctrlPr>
                            <a:rPr lang="fr-CA" sz="2800" b="0" i="1" smtClean="0">
                              <a:latin typeface="Cambria Math" panose="02040503050406030204" pitchFamily="18" charset="0"/>
                              <a:ea typeface="Cambria" panose="02040503050406030204" pitchFamily="18" charset="0"/>
                            </a:rPr>
                          </m:ctrlPr>
                        </m:funcPr>
                        <m:fName>
                          <m:r>
                            <m:rPr>
                              <m:sty m:val="p"/>
                            </m:rPr>
                            <a:rPr lang="fr-CA" sz="2800" b="0" i="0" smtClean="0">
                              <a:latin typeface="Cambria Math" panose="02040503050406030204" pitchFamily="18" charset="0"/>
                              <a:ea typeface="Cambria" panose="02040503050406030204" pitchFamily="18" charset="0"/>
                            </a:rPr>
                            <m:t>arctan</m:t>
                          </m:r>
                        </m:fName>
                        <m:e>
                          <m:d>
                            <m:dPr>
                              <m:ctrlPr>
                                <a:rPr lang="fr-CA" sz="2800" b="0" i="1" smtClean="0">
                                  <a:latin typeface="Cambria Math" panose="02040503050406030204" pitchFamily="18" charset="0"/>
                                  <a:ea typeface="Cambria" panose="02040503050406030204" pitchFamily="18" charset="0"/>
                                </a:rPr>
                              </m:ctrlPr>
                            </m:dPr>
                            <m:e>
                              <m:r>
                                <a:rPr lang="fr-CA" sz="2800" b="0" i="1" smtClean="0">
                                  <a:latin typeface="Cambria Math" panose="02040503050406030204" pitchFamily="18" charset="0"/>
                                  <a:ea typeface="Cambria" panose="02040503050406030204" pitchFamily="18" charset="0"/>
                                </a:rPr>
                                <m:t>𝑥</m:t>
                              </m:r>
                            </m:e>
                          </m:d>
                        </m:e>
                      </m:func>
                      <m:r>
                        <a:rPr lang="fr-CA" sz="2800" b="0" i="1" smtClean="0">
                          <a:latin typeface="Cambria Math" panose="02040503050406030204" pitchFamily="18" charset="0"/>
                          <a:ea typeface="Cambria" panose="02040503050406030204" pitchFamily="18" charset="0"/>
                        </a:rPr>
                        <m:t>=</m:t>
                      </m:r>
                      <m:nary>
                        <m:naryPr>
                          <m:chr m:val="∑"/>
                          <m:ctrlPr>
                            <a:rPr lang="fr-CA" sz="2800" b="0" i="1" smtClean="0">
                              <a:latin typeface="Cambria Math" panose="02040503050406030204" pitchFamily="18" charset="0"/>
                              <a:ea typeface="Cambria" panose="02040503050406030204" pitchFamily="18" charset="0"/>
                            </a:rPr>
                          </m:ctrlPr>
                        </m:naryPr>
                        <m:sub>
                          <m:r>
                            <m:rPr>
                              <m:brk m:alnAt="23"/>
                            </m:rP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=0</m:t>
                          </m:r>
                        </m:sub>
                        <m:sup>
                          <m:r>
                            <a:rPr lang="fr-CA" sz="2800" b="0" i="1" smtClean="0">
                              <a:latin typeface="Cambria Math" panose="02040503050406030204" pitchFamily="18" charset="0"/>
                              <a:ea typeface="Cambria" panose="02040503050406030204" pitchFamily="18" charset="0"/>
                            </a:rPr>
                            <m:t>∞</m:t>
                          </m:r>
                        </m:sup>
                        <m:e>
                          <m:sSup>
                            <m:sSupPr>
                              <m:ctrlPr>
                                <a:rPr lang="fr-CA" sz="2800" b="0" i="1" smtClean="0">
                                  <a:latin typeface="Cambria Math" panose="02040503050406030204" pitchFamily="18" charset="0"/>
                                  <a:ea typeface="Cambria" panose="02040503050406030204" pitchFamily="18" charset="0"/>
                                </a:rPr>
                              </m:ctrlPr>
                            </m:sSupPr>
                            <m:e>
                              <m:d>
                                <m:dPr>
                                  <m:ctrlPr>
                                    <a:rPr lang="fr-CA" sz="2800" b="0" i="1" smtClean="0">
                                      <a:latin typeface="Cambria Math" panose="02040503050406030204" pitchFamily="18" charset="0"/>
                                      <a:ea typeface="Cambria" panose="02040503050406030204" pitchFamily="18" charset="0"/>
                                    </a:rPr>
                                  </m:ctrlPr>
                                </m:dPr>
                                <m:e>
                                  <m:r>
                                    <a:rPr lang="fr-CA" sz="2800" b="0" i="1" smtClean="0">
                                      <a:latin typeface="Cambria Math" panose="02040503050406030204" pitchFamily="18" charset="0"/>
                                      <a:ea typeface="Cambria" panose="02040503050406030204" pitchFamily="18" charset="0"/>
                                    </a:rPr>
                                    <m:t>−1</m:t>
                                  </m:r>
                                </m:e>
                              </m:d>
                            </m:e>
                            <m:sup>
                              <m:r>
                                <a:rPr lang="fr-CA" sz="2800" b="0" i="1" smtClean="0">
                                  <a:latin typeface="Cambria Math" panose="02040503050406030204" pitchFamily="18" charset="0"/>
                                  <a:ea typeface="Cambria" panose="02040503050406030204" pitchFamily="18" charset="0"/>
                                </a:rPr>
                                <m:t>𝑛</m:t>
                              </m:r>
                            </m:sup>
                          </m:sSup>
                          <m:r>
                            <a:rPr lang="fr-CA" sz="2800" b="0" i="1" smtClean="0">
                              <a:latin typeface="Cambria Math" panose="02040503050406030204" pitchFamily="18" charset="0"/>
                              <a:ea typeface="Cambria" panose="02040503050406030204" pitchFamily="18" charset="0"/>
                            </a:rPr>
                            <m:t>⋅</m:t>
                          </m:r>
                          <m:f>
                            <m:fPr>
                              <m:ctrlPr>
                                <a:rPr lang="fr-CA" sz="2800" b="0" i="1" smtClean="0">
                                  <a:latin typeface="Cambria Math" panose="02040503050406030204" pitchFamily="18" charset="0"/>
                                  <a:ea typeface="Cambria" panose="02040503050406030204" pitchFamily="18" charset="0"/>
                                </a:rPr>
                              </m:ctrlPr>
                            </m:fPr>
                            <m:num>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𝑥</m:t>
                                  </m:r>
                                </m:e>
                                <m:sup>
                                  <m:r>
                                    <a:rPr lang="fr-CA" sz="2800" b="0" i="1" smtClean="0">
                                      <a:latin typeface="Cambria Math" panose="02040503050406030204" pitchFamily="18" charset="0"/>
                                      <a:ea typeface="Cambria" panose="02040503050406030204" pitchFamily="18" charset="0"/>
                                    </a:rPr>
                                    <m:t>2</m:t>
                                  </m:r>
                                  <m: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+1</m:t>
                                  </m:r>
                                </m:sup>
                              </m:sSup>
                            </m:num>
                            <m:den>
                              <m:r>
                                <a:rPr lang="fr-CA" sz="2800" b="0" i="1" smtClean="0">
                                  <a:latin typeface="Cambria Math" panose="02040503050406030204" pitchFamily="18" charset="0"/>
                                  <a:ea typeface="Cambria" panose="02040503050406030204" pitchFamily="18" charset="0"/>
                                </a:rPr>
                                <m:t>2</m:t>
                              </m:r>
                              <m: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+1</m:t>
                              </m:r>
                            </m:den>
                          </m:f>
                        </m:e>
                      </m:nary>
                      <m:r>
                        <a:rPr lang="fr-CA" sz="2800" b="0" i="1" smtClean="0">
                          <a:latin typeface="Cambria Math" panose="02040503050406030204" pitchFamily="18" charset="0"/>
                          <a:ea typeface="Cambria" panose="02040503050406030204" pitchFamily="18" charset="0"/>
                        </a:rPr>
                        <m:t>=</m:t>
                      </m:r>
                      <m:r>
                        <a:rPr lang="fr-CA" sz="2800" b="0" i="1" smtClean="0">
                          <a:latin typeface="Cambria Math" panose="02040503050406030204" pitchFamily="18" charset="0"/>
                          <a:ea typeface="Cambria" panose="02040503050406030204" pitchFamily="18" charset="0"/>
                        </a:rPr>
                        <m:t>𝑥</m:t>
                      </m:r>
                      <m:r>
                        <a:rPr lang="fr-CA" sz="2800" b="0" i="1" smtClean="0">
                          <a:latin typeface="Cambria Math" panose="02040503050406030204" pitchFamily="18" charset="0"/>
                          <a:ea typeface="Cambria" panose="02040503050406030204" pitchFamily="18" charset="0"/>
                        </a:rPr>
                        <m:t>−</m:t>
                      </m:r>
                      <m:f>
                        <m:fPr>
                          <m:ctrlPr>
                            <a:rPr lang="fr-CA" sz="2800" b="0" i="1" smtClean="0">
                              <a:latin typeface="Cambria Math" panose="02040503050406030204" pitchFamily="18" charset="0"/>
                              <a:ea typeface="Cambria" panose="02040503050406030204" pitchFamily="18" charset="0"/>
                            </a:rPr>
                          </m:ctrlPr>
                        </m:fPr>
                        <m:num>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𝑥</m:t>
                              </m:r>
                            </m:e>
                            <m:sup>
                              <m:r>
                                <a:rPr lang="fr-CA" sz="2800" b="0" i="1" smtClean="0">
                                  <a:latin typeface="Cambria Math" panose="02040503050406030204" pitchFamily="18" charset="0"/>
                                  <a:ea typeface="Cambria" panose="02040503050406030204" pitchFamily="18" charset="0"/>
                                </a:rPr>
                                <m:t>3</m:t>
                              </m:r>
                            </m:sup>
                          </m:sSup>
                        </m:num>
                        <m:den>
                          <m:r>
                            <a:rPr lang="fr-CA" sz="2800" b="0" i="1" smtClean="0">
                              <a:latin typeface="Cambria Math" panose="02040503050406030204" pitchFamily="18" charset="0"/>
                              <a:ea typeface="Cambria" panose="02040503050406030204" pitchFamily="18" charset="0"/>
                            </a:rPr>
                            <m:t>3</m:t>
                          </m:r>
                        </m:den>
                      </m:f>
                      <m:r>
                        <a:rPr lang="fr-CA" sz="2800" b="0" i="1" smtClean="0">
                          <a:latin typeface="Cambria Math" panose="02040503050406030204" pitchFamily="18" charset="0"/>
                          <a:ea typeface="Cambria" panose="02040503050406030204" pitchFamily="18" charset="0"/>
                        </a:rPr>
                        <m:t>+</m:t>
                      </m:r>
                      <m:f>
                        <m:fPr>
                          <m:ctrlPr>
                            <a:rPr lang="fr-CA" sz="2800" b="0" i="1" smtClean="0">
                              <a:latin typeface="Cambria Math" panose="02040503050406030204" pitchFamily="18" charset="0"/>
                              <a:ea typeface="Cambria" panose="02040503050406030204" pitchFamily="18" charset="0"/>
                            </a:rPr>
                          </m:ctrlPr>
                        </m:fPr>
                        <m:num>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𝑥</m:t>
                              </m:r>
                            </m:e>
                            <m:sup>
                              <m:r>
                                <a:rPr lang="fr-CA" sz="2800" b="0" i="1" smtClean="0">
                                  <a:latin typeface="Cambria Math" panose="02040503050406030204" pitchFamily="18" charset="0"/>
                                  <a:ea typeface="Cambria" panose="02040503050406030204" pitchFamily="18" charset="0"/>
                                </a:rPr>
                                <m:t>5</m:t>
                              </m:r>
                            </m:sup>
                          </m:sSup>
                        </m:num>
                        <m:den>
                          <m:r>
                            <a:rPr lang="fr-CA" sz="2800" b="0" i="1" smtClean="0">
                              <a:latin typeface="Cambria Math" panose="02040503050406030204" pitchFamily="18" charset="0"/>
                              <a:ea typeface="Cambria" panose="02040503050406030204" pitchFamily="18" charset="0"/>
                            </a:rPr>
                            <m:t>5</m:t>
                          </m:r>
                        </m:den>
                      </m:f>
                      <m:r>
                        <a:rPr lang="fr-CA" sz="2800" b="0" i="1" smtClean="0">
                          <a:latin typeface="Cambria Math" panose="02040503050406030204" pitchFamily="18" charset="0"/>
                          <a:ea typeface="Cambria" panose="02040503050406030204" pitchFamily="18" charset="0"/>
                        </a:rPr>
                        <m:t>−</m:t>
                      </m:r>
                      <m:f>
                        <m:fPr>
                          <m:ctrlPr>
                            <a:rPr lang="fr-CA" sz="2800" b="0" i="1" smtClean="0">
                              <a:latin typeface="Cambria Math" panose="02040503050406030204" pitchFamily="18" charset="0"/>
                              <a:ea typeface="Cambria" panose="02040503050406030204" pitchFamily="18" charset="0"/>
                            </a:rPr>
                          </m:ctrlPr>
                        </m:fPr>
                        <m:num>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𝑥</m:t>
                              </m:r>
                            </m:e>
                            <m:sup>
                              <m:r>
                                <a:rPr lang="fr-CA" sz="2800" b="0" i="1" smtClean="0">
                                  <a:latin typeface="Cambria Math" panose="02040503050406030204" pitchFamily="18" charset="0"/>
                                  <a:ea typeface="Cambria" panose="02040503050406030204" pitchFamily="18" charset="0"/>
                                </a:rPr>
                                <m:t>7</m:t>
                              </m:r>
                            </m:sup>
                          </m:sSup>
                        </m:num>
                        <m:den>
                          <m:r>
                            <a:rPr lang="fr-CA" sz="2800" b="0" i="1" smtClean="0">
                              <a:latin typeface="Cambria Math" panose="02040503050406030204" pitchFamily="18" charset="0"/>
                              <a:ea typeface="Cambria" panose="02040503050406030204" pitchFamily="18" charset="0"/>
                            </a:rPr>
                            <m:t>7</m:t>
                          </m:r>
                        </m:den>
                      </m:f>
                      <m:r>
                        <a:rPr lang="fr-CA" sz="2800" b="0" i="1" smtClean="0">
                          <a:latin typeface="Cambria Math" panose="02040503050406030204" pitchFamily="18" charset="0"/>
                          <a:ea typeface="Cambria" panose="02040503050406030204" pitchFamily="18" charset="0"/>
                        </a:rPr>
                        <m:t>+…</m:t>
                      </m:r>
                    </m:oMath>
                  </m:oMathPara>
                </a14:m>
                <a:endParaRPr lang="fr-CA" sz="2800" b="0" dirty="0">
                  <a:latin typeface="Cambria" panose="02040503050406030204" pitchFamily="18" charset="0"/>
                  <a:ea typeface="Cambria" panose="02040503050406030204" pitchFamily="18" charset="0"/>
                </a:endParaRPr>
              </a:p>
              <a:p>
                <a:pPr marL="0" indent="0">
                  <a:buNone/>
                </a:pPr>
                <a:endParaRPr lang="fr-CA" sz="2800" b="0" i="1" dirty="0">
                  <a:latin typeface="Cambria Math" panose="02040503050406030204" pitchFamily="18" charset="0"/>
                  <a:ea typeface="Cambria" panose="02040503050406030204" pitchFamily="18" charset="0"/>
                </a:endParaRPr>
              </a:p>
              <a:p>
                <a:pPr marL="0" indent="0">
                  <a:buNone/>
                </a:pPr>
                <a14:m>
                  <m:oMathPara xmlns:m="http://schemas.openxmlformats.org/officeDocument/2006/math">
                    <m:oMathParaPr>
                      <m:jc m:val="left"/>
                    </m:oMathParaPr>
                    <m:oMath xmlns:m="http://schemas.openxmlformats.org/officeDocument/2006/math">
                      <m:func>
                        <m:funcPr>
                          <m:ctrlPr>
                            <a:rPr lang="fr-CA" sz="2800" b="0" i="1" smtClean="0">
                              <a:latin typeface="Cambria Math" panose="02040503050406030204" pitchFamily="18" charset="0"/>
                              <a:ea typeface="Cambria" panose="02040503050406030204" pitchFamily="18" charset="0"/>
                            </a:rPr>
                          </m:ctrlPr>
                        </m:funcPr>
                        <m:fName>
                          <m:r>
                            <m:rPr>
                              <m:sty m:val="p"/>
                            </m:rPr>
                            <a:rPr lang="fr-CA" sz="2800" b="0" i="0" smtClean="0">
                              <a:latin typeface="Cambria Math" panose="02040503050406030204" pitchFamily="18" charset="0"/>
                              <a:ea typeface="Cambria" panose="02040503050406030204" pitchFamily="18" charset="0"/>
                            </a:rPr>
                            <m:t>arctan</m:t>
                          </m:r>
                        </m:fName>
                        <m:e>
                          <m:d>
                            <m:dPr>
                              <m:ctrlPr>
                                <a:rPr lang="fr-CA" sz="2800" b="0" i="1" smtClean="0">
                                  <a:latin typeface="Cambria Math" panose="02040503050406030204" pitchFamily="18" charset="0"/>
                                  <a:ea typeface="Cambria" panose="02040503050406030204" pitchFamily="18" charset="0"/>
                                </a:rPr>
                              </m:ctrlPr>
                            </m:dPr>
                            <m:e>
                              <m:r>
                                <a:rPr lang="fr-CA" sz="2800" b="0" i="1" smtClean="0">
                                  <a:latin typeface="Cambria Math" panose="02040503050406030204" pitchFamily="18" charset="0"/>
                                  <a:ea typeface="Cambria" panose="02040503050406030204" pitchFamily="18" charset="0"/>
                                </a:rPr>
                                <m:t>1</m:t>
                              </m:r>
                            </m:e>
                          </m:d>
                        </m:e>
                      </m:func>
                      <m:r>
                        <a:rPr lang="fr-CA" sz="2800" b="0" i="1" smtClean="0">
                          <a:latin typeface="Cambria Math" panose="02040503050406030204" pitchFamily="18" charset="0"/>
                          <a:ea typeface="Cambria" panose="02040503050406030204" pitchFamily="18" charset="0"/>
                        </a:rPr>
                        <m:t>=</m:t>
                      </m:r>
                      <m:f>
                        <m:fPr>
                          <m:ctrlPr>
                            <a:rPr lang="fr-CA" sz="2800" b="0" i="1" smtClean="0">
                              <a:latin typeface="Cambria Math" panose="02040503050406030204" pitchFamily="18" charset="0"/>
                              <a:ea typeface="Cambria" panose="02040503050406030204" pitchFamily="18" charset="0"/>
                            </a:rPr>
                          </m:ctrlPr>
                        </m:fPr>
                        <m:num>
                          <m:r>
                            <a:rPr lang="fr-CA" sz="2800" b="0" i="1" smtClean="0">
                              <a:latin typeface="Cambria Math" panose="02040503050406030204" pitchFamily="18" charset="0"/>
                              <a:ea typeface="Cambria" panose="02040503050406030204" pitchFamily="18" charset="0"/>
                            </a:rPr>
                            <m:t>𝜋</m:t>
                          </m:r>
                        </m:num>
                        <m:den>
                          <m:r>
                            <a:rPr lang="fr-CA" sz="2800" b="0" i="1" smtClean="0">
                              <a:latin typeface="Cambria Math" panose="02040503050406030204" pitchFamily="18" charset="0"/>
                              <a:ea typeface="Cambria" panose="02040503050406030204" pitchFamily="18" charset="0"/>
                            </a:rPr>
                            <m:t>4</m:t>
                          </m:r>
                        </m:den>
                      </m:f>
                    </m:oMath>
                  </m:oMathPara>
                </a14:m>
                <a:endParaRPr lang="fr-CA" sz="2800" b="0" dirty="0">
                  <a:latin typeface="Cambria" panose="02040503050406030204" pitchFamily="18" charset="0"/>
                  <a:ea typeface="Cambria" panose="02040503050406030204" pitchFamily="18" charset="0"/>
                </a:endParaRPr>
              </a:p>
              <a:p>
                <a:pPr marL="0" indent="0">
                  <a:buNone/>
                </a:pPr>
                <a:endParaRPr lang="fr-CA" sz="2800" b="0"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left"/>
                    </m:oMathParaPr>
                    <m:oMath xmlns:m="http://schemas.openxmlformats.org/officeDocument/2006/math">
                      <m:f>
                        <m:fPr>
                          <m:ctrlPr>
                            <a:rPr lang="fr-CA" sz="2800" b="0" i="1" smtClean="0">
                              <a:latin typeface="Cambria Math" panose="02040503050406030204" pitchFamily="18" charset="0"/>
                              <a:ea typeface="Cambria" panose="02040503050406030204" pitchFamily="18" charset="0"/>
                            </a:rPr>
                          </m:ctrlPr>
                        </m:fPr>
                        <m:num>
                          <m:r>
                            <a:rPr lang="fr-CA" sz="2800" b="0" i="1" smtClean="0">
                              <a:latin typeface="Cambria Math" panose="02040503050406030204" pitchFamily="18" charset="0"/>
                              <a:ea typeface="Cambria" panose="02040503050406030204" pitchFamily="18" charset="0"/>
                            </a:rPr>
                            <m:t>𝜋</m:t>
                          </m:r>
                        </m:num>
                        <m:den>
                          <m:r>
                            <a:rPr lang="fr-CA" sz="2800" b="0" i="1" smtClean="0">
                              <a:latin typeface="Cambria Math" panose="02040503050406030204" pitchFamily="18" charset="0"/>
                              <a:ea typeface="Cambria" panose="02040503050406030204" pitchFamily="18" charset="0"/>
                            </a:rPr>
                            <m:t>4</m:t>
                          </m:r>
                        </m:den>
                      </m:f>
                      <m:r>
                        <a:rPr lang="fr-CA" sz="2800" b="0" i="1" smtClean="0">
                          <a:latin typeface="Cambria Math" panose="02040503050406030204" pitchFamily="18" charset="0"/>
                          <a:ea typeface="Cambria" panose="02040503050406030204" pitchFamily="18" charset="0"/>
                        </a:rPr>
                        <m:t>=</m:t>
                      </m:r>
                      <m:func>
                        <m:funcPr>
                          <m:ctrlPr>
                            <a:rPr lang="fr-CA" i="1">
                              <a:latin typeface="Cambria Math" panose="02040503050406030204" pitchFamily="18" charset="0"/>
                              <a:ea typeface="Cambria" panose="02040503050406030204" pitchFamily="18" charset="0"/>
                            </a:rPr>
                          </m:ctrlPr>
                        </m:funcPr>
                        <m:fName>
                          <m:r>
                            <m:rPr>
                              <m:sty m:val="p"/>
                            </m:rPr>
                            <a:rPr lang="fr-CA">
                              <a:latin typeface="Cambria Math" panose="02040503050406030204" pitchFamily="18" charset="0"/>
                              <a:ea typeface="Cambria" panose="02040503050406030204" pitchFamily="18" charset="0"/>
                            </a:rPr>
                            <m:t>arctan</m:t>
                          </m:r>
                        </m:fName>
                        <m:e>
                          <m:d>
                            <m:dPr>
                              <m:ctrlPr>
                                <a:rPr lang="fr-CA" i="1">
                                  <a:latin typeface="Cambria Math" panose="02040503050406030204" pitchFamily="18" charset="0"/>
                                  <a:ea typeface="Cambria" panose="02040503050406030204" pitchFamily="18" charset="0"/>
                                </a:rPr>
                              </m:ctrlPr>
                            </m:dPr>
                            <m:e>
                              <m:r>
                                <a:rPr lang="fr-CA" i="1">
                                  <a:latin typeface="Cambria Math" panose="02040503050406030204" pitchFamily="18" charset="0"/>
                                  <a:ea typeface="Cambria" panose="02040503050406030204" pitchFamily="18" charset="0"/>
                                </a:rPr>
                                <m:t>1</m:t>
                              </m:r>
                            </m:e>
                          </m:d>
                        </m:e>
                      </m:func>
                      <m:r>
                        <a:rPr lang="fr-CA" b="0" i="1" smtClean="0">
                          <a:latin typeface="Cambria Math" panose="02040503050406030204" pitchFamily="18" charset="0"/>
                          <a:ea typeface="Cambria" panose="02040503050406030204" pitchFamily="18" charset="0"/>
                        </a:rPr>
                        <m:t>=1−</m:t>
                      </m:r>
                      <m:f>
                        <m:fPr>
                          <m:ctrlPr>
                            <a:rPr lang="fr-CA" b="0" i="1" smtClean="0">
                              <a:latin typeface="Cambria Math" panose="02040503050406030204" pitchFamily="18" charset="0"/>
                              <a:ea typeface="Cambria" panose="02040503050406030204" pitchFamily="18" charset="0"/>
                            </a:rPr>
                          </m:ctrlPr>
                        </m:fPr>
                        <m:num>
                          <m:r>
                            <a:rPr lang="fr-CA" b="0" i="1" smtClean="0">
                              <a:latin typeface="Cambria Math" panose="02040503050406030204" pitchFamily="18" charset="0"/>
                              <a:ea typeface="Cambria" panose="02040503050406030204" pitchFamily="18" charset="0"/>
                            </a:rPr>
                            <m:t>1</m:t>
                          </m:r>
                        </m:num>
                        <m:den>
                          <m:r>
                            <a:rPr lang="fr-CA" b="0" i="1" smtClean="0">
                              <a:latin typeface="Cambria Math" panose="02040503050406030204" pitchFamily="18" charset="0"/>
                              <a:ea typeface="Cambria" panose="02040503050406030204" pitchFamily="18" charset="0"/>
                            </a:rPr>
                            <m:t>3</m:t>
                          </m:r>
                        </m:den>
                      </m:f>
                      <m:r>
                        <a:rPr lang="fr-CA" b="0" i="1" smtClean="0">
                          <a:latin typeface="Cambria Math" panose="02040503050406030204" pitchFamily="18" charset="0"/>
                          <a:ea typeface="Cambria" panose="02040503050406030204" pitchFamily="18" charset="0"/>
                        </a:rPr>
                        <m:t>+</m:t>
                      </m:r>
                      <m:f>
                        <m:fPr>
                          <m:ctrlPr>
                            <a:rPr lang="fr-CA" b="0" i="1" smtClean="0">
                              <a:latin typeface="Cambria Math" panose="02040503050406030204" pitchFamily="18" charset="0"/>
                              <a:ea typeface="Cambria" panose="02040503050406030204" pitchFamily="18" charset="0"/>
                            </a:rPr>
                          </m:ctrlPr>
                        </m:fPr>
                        <m:num>
                          <m:r>
                            <a:rPr lang="fr-CA" b="0" i="1" smtClean="0">
                              <a:latin typeface="Cambria Math" panose="02040503050406030204" pitchFamily="18" charset="0"/>
                              <a:ea typeface="Cambria" panose="02040503050406030204" pitchFamily="18" charset="0"/>
                            </a:rPr>
                            <m:t>1</m:t>
                          </m:r>
                        </m:num>
                        <m:den>
                          <m:r>
                            <a:rPr lang="fr-CA" b="0" i="1" smtClean="0">
                              <a:latin typeface="Cambria Math" panose="02040503050406030204" pitchFamily="18" charset="0"/>
                              <a:ea typeface="Cambria" panose="02040503050406030204" pitchFamily="18" charset="0"/>
                            </a:rPr>
                            <m:t>5</m:t>
                          </m:r>
                        </m:den>
                      </m:f>
                      <m:r>
                        <a:rPr lang="fr-CA" b="0" i="1" smtClean="0">
                          <a:latin typeface="Cambria Math" panose="02040503050406030204" pitchFamily="18" charset="0"/>
                          <a:ea typeface="Cambria" panose="02040503050406030204" pitchFamily="18" charset="0"/>
                        </a:rPr>
                        <m:t>−</m:t>
                      </m:r>
                      <m:f>
                        <m:fPr>
                          <m:ctrlPr>
                            <a:rPr lang="fr-CA" b="0" i="1" smtClean="0">
                              <a:latin typeface="Cambria Math" panose="02040503050406030204" pitchFamily="18" charset="0"/>
                              <a:ea typeface="Cambria" panose="02040503050406030204" pitchFamily="18" charset="0"/>
                            </a:rPr>
                          </m:ctrlPr>
                        </m:fPr>
                        <m:num>
                          <m:r>
                            <a:rPr lang="fr-CA" b="0" i="1" smtClean="0">
                              <a:latin typeface="Cambria Math" panose="02040503050406030204" pitchFamily="18" charset="0"/>
                              <a:ea typeface="Cambria" panose="02040503050406030204" pitchFamily="18" charset="0"/>
                            </a:rPr>
                            <m:t>1</m:t>
                          </m:r>
                        </m:num>
                        <m:den>
                          <m:r>
                            <a:rPr lang="fr-CA" b="0" i="1" smtClean="0">
                              <a:latin typeface="Cambria Math" panose="02040503050406030204" pitchFamily="18" charset="0"/>
                              <a:ea typeface="Cambria" panose="02040503050406030204" pitchFamily="18" charset="0"/>
                            </a:rPr>
                            <m:t>7</m:t>
                          </m:r>
                        </m:den>
                      </m:f>
                      <m:r>
                        <a:rPr lang="fr-CA" b="0" i="1" smtClean="0">
                          <a:latin typeface="Cambria Math" panose="02040503050406030204" pitchFamily="18" charset="0"/>
                          <a:ea typeface="Cambria" panose="02040503050406030204" pitchFamily="18" charset="0"/>
                        </a:rPr>
                        <m:t>+…</m:t>
                      </m:r>
                    </m:oMath>
                  </m:oMathPara>
                </a14:m>
                <a:endParaRPr lang="fr-CA" sz="2800" b="0" dirty="0">
                  <a:latin typeface="Cambria" panose="02040503050406030204" pitchFamily="18" charset="0"/>
                  <a:ea typeface="Cambria" panose="02040503050406030204" pitchFamily="18" charset="0"/>
                </a:endParaRPr>
              </a:p>
              <a:p>
                <a:pPr marL="0" indent="0">
                  <a:buNone/>
                </a:pPr>
                <a:endParaRPr lang="fr-CA" sz="2800" b="0" dirty="0">
                  <a:latin typeface="Cambria" panose="02040503050406030204" pitchFamily="18" charset="0"/>
                  <a:ea typeface="Cambria" panose="02040503050406030204" pitchFamily="18" charset="0"/>
                </a:endParaRPr>
              </a:p>
            </p:txBody>
          </p:sp>
        </mc:Choice>
        <mc:Fallback>
          <p:sp>
            <p:nvSpPr>
              <p:cNvPr id="3" name="Espace réservé du contenu 2">
                <a:extLst>
                  <a:ext uri="{FF2B5EF4-FFF2-40B4-BE49-F238E27FC236}">
                    <a16:creationId xmlns:a16="http://schemas.microsoft.com/office/drawing/2014/main" id="{60340023-7FFA-C7B4-BA91-0833F1A8900B}"/>
                  </a:ext>
                </a:extLst>
              </p:cNvPr>
              <p:cNvSpPr>
                <a:spLocks noGrp="1" noRot="1" noChangeAspect="1" noMove="1" noResize="1" noEditPoints="1" noAdjustHandles="1" noChangeArrowheads="1" noChangeShapeType="1" noTextEdit="1"/>
              </p:cNvSpPr>
              <p:nvPr>
                <p:ph idx="1"/>
              </p:nvPr>
            </p:nvSpPr>
            <p:spPr>
              <a:xfrm>
                <a:off x="0" y="954505"/>
                <a:ext cx="12192000" cy="5903495"/>
              </a:xfrm>
              <a:blipFill>
                <a:blip r:embed="rId3"/>
                <a:stretch>
                  <a:fillRect/>
                </a:stretch>
              </a:blipFill>
            </p:spPr>
            <p:txBody>
              <a:bodyPr/>
              <a:lstStyle/>
              <a:p>
                <a:r>
                  <a:rPr lang="fr-CA">
                    <a:noFill/>
                  </a:rPr>
                  <a:t> </a:t>
                </a:r>
              </a:p>
            </p:txBody>
          </p:sp>
        </mc:Fallback>
      </mc:AlternateContent>
    </p:spTree>
    <p:extLst>
      <p:ext uri="{BB962C8B-B14F-4D97-AF65-F5344CB8AC3E}">
        <p14:creationId xmlns:p14="http://schemas.microsoft.com/office/powerpoint/2010/main" val="3582493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D527B-38E6-A8A7-4084-77B53A1610D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DCF21B12-512E-7B39-0E85-1A7F872D9B4D}"/>
                  </a:ext>
                </a:extLst>
              </p:cNvPr>
              <p:cNvSpPr>
                <a:spLocks noGrp="1"/>
              </p:cNvSpPr>
              <p:nvPr>
                <p:ph type="title"/>
              </p:nvPr>
            </p:nvSpPr>
            <p:spPr>
              <a:xfrm>
                <a:off x="0" y="0"/>
                <a:ext cx="12192000" cy="858254"/>
              </a:xfrm>
            </p:spPr>
            <p:txBody>
              <a:bodyPr>
                <a:normAutofit/>
              </a:bodyPr>
              <a:lstStyle/>
              <a:p>
                <a:r>
                  <a:rPr lang="fr-CA" b="1" dirty="0">
                    <a:solidFill>
                      <a:srgbClr val="00B050"/>
                    </a:solidFill>
                    <a:latin typeface="Cambria" panose="02040503050406030204" pitchFamily="18" charset="0"/>
                    <a:ea typeface="Cambria" panose="02040503050406030204" pitchFamily="18" charset="0"/>
                  </a:rPr>
                  <a:t>Séries de Taylor | Approximer </a:t>
                </a:r>
                <a14:m>
                  <m:oMath xmlns:m="http://schemas.openxmlformats.org/officeDocument/2006/math">
                    <m:r>
                      <a:rPr lang="fr-CA" b="1" i="1">
                        <a:solidFill>
                          <a:srgbClr val="00B050"/>
                        </a:solidFill>
                        <a:latin typeface="Cambria Math" panose="02040503050406030204" pitchFamily="18" charset="0"/>
                        <a:ea typeface="Cambria" panose="02040503050406030204" pitchFamily="18" charset="0"/>
                      </a:rPr>
                      <m:t>𝝅</m:t>
                    </m:r>
                  </m:oMath>
                </a14:m>
                <a:endParaRPr lang="fr-CA" b="1" dirty="0">
                  <a:solidFill>
                    <a:srgbClr val="00B050"/>
                  </a:solidFill>
                  <a:latin typeface="Cambria" panose="02040503050406030204" pitchFamily="18" charset="0"/>
                  <a:ea typeface="Cambria" panose="02040503050406030204" pitchFamily="18" charset="0"/>
                </a:endParaRPr>
              </a:p>
            </p:txBody>
          </p:sp>
        </mc:Choice>
        <mc:Fallback>
          <p:sp>
            <p:nvSpPr>
              <p:cNvPr id="2" name="Titre 1">
                <a:extLst>
                  <a:ext uri="{FF2B5EF4-FFF2-40B4-BE49-F238E27FC236}">
                    <a16:creationId xmlns:a16="http://schemas.microsoft.com/office/drawing/2014/main" id="{DCF21B12-512E-7B39-0E85-1A7F872D9B4D}"/>
                  </a:ext>
                </a:extLst>
              </p:cNvPr>
              <p:cNvSpPr>
                <a:spLocks noGrp="1" noRot="1" noChangeAspect="1" noMove="1" noResize="1" noEditPoints="1" noAdjustHandles="1" noChangeArrowheads="1" noChangeShapeType="1" noTextEdit="1"/>
              </p:cNvSpPr>
              <p:nvPr>
                <p:ph type="title"/>
              </p:nvPr>
            </p:nvSpPr>
            <p:spPr>
              <a:xfrm>
                <a:off x="0" y="0"/>
                <a:ext cx="12192000" cy="858254"/>
              </a:xfrm>
              <a:blipFill>
                <a:blip r:embed="rId2"/>
                <a:stretch>
                  <a:fillRect l="-2000" t="-12766" b="-24113"/>
                </a:stretch>
              </a:blipFill>
            </p:spPr>
            <p:txBody>
              <a:bodyPr/>
              <a:lstStyle/>
              <a:p>
                <a:r>
                  <a:rPr lang="fr-CA">
                    <a:noFill/>
                  </a:rPr>
                  <a:t> </a:t>
                </a:r>
              </a:p>
            </p:txBody>
          </p:sp>
        </mc:Fallback>
      </mc:AlternateContent>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029A9B85-068D-42A7-BF58-06C2F9956747}"/>
                  </a:ext>
                </a:extLst>
              </p:cNvPr>
              <p:cNvSpPr>
                <a:spLocks noGrp="1"/>
              </p:cNvSpPr>
              <p:nvPr>
                <p:ph idx="1"/>
              </p:nvPr>
            </p:nvSpPr>
            <p:spPr>
              <a:xfrm>
                <a:off x="0" y="954505"/>
                <a:ext cx="12192000" cy="5903495"/>
              </a:xfrm>
            </p:spPr>
            <p:txBody>
              <a:bodyPr>
                <a:normAutofit/>
              </a:bodyPr>
              <a:lstStyle/>
              <a:p>
                <a:pPr marL="0" indent="0">
                  <a:buNone/>
                </a:pPr>
                <a:r>
                  <a:rPr lang="fr-CA" sz="2800" b="0" dirty="0">
                    <a:latin typeface="Cambria" panose="02040503050406030204" pitchFamily="18" charset="0"/>
                    <a:ea typeface="Cambria" panose="02040503050406030204" pitchFamily="18" charset="0"/>
                  </a:rPr>
                  <a:t>Ramanujan (1887–1920)</a:t>
                </a:r>
              </a:p>
              <a:p>
                <a:pPr marL="0" indent="0">
                  <a:buNone/>
                </a:pPr>
                <a:endParaRPr lang="fr-CA" sz="2800" b="0"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left"/>
                    </m:oMathParaPr>
                    <m:oMath xmlns:m="http://schemas.openxmlformats.org/officeDocument/2006/math">
                      <m:f>
                        <m:fPr>
                          <m:ctrlPr>
                            <a:rPr lang="fr-CA" sz="2800" b="0" i="1" smtClean="0">
                              <a:latin typeface="Cambria Math" panose="02040503050406030204" pitchFamily="18" charset="0"/>
                              <a:ea typeface="Cambria" panose="02040503050406030204" pitchFamily="18" charset="0"/>
                            </a:rPr>
                          </m:ctrlPr>
                        </m:fPr>
                        <m:num>
                          <m:r>
                            <a:rPr lang="fr-CA" sz="2800" b="0" i="1" smtClean="0">
                              <a:latin typeface="Cambria Math" panose="02040503050406030204" pitchFamily="18" charset="0"/>
                              <a:ea typeface="Cambria" panose="02040503050406030204" pitchFamily="18" charset="0"/>
                            </a:rPr>
                            <m:t>1</m:t>
                          </m:r>
                        </m:num>
                        <m:den>
                          <m:r>
                            <a:rPr lang="fr-CA" sz="2800" b="0" i="1" smtClean="0">
                              <a:latin typeface="Cambria Math" panose="02040503050406030204" pitchFamily="18" charset="0"/>
                              <a:ea typeface="Cambria" panose="02040503050406030204" pitchFamily="18" charset="0"/>
                            </a:rPr>
                            <m:t>𝜋</m:t>
                          </m:r>
                        </m:den>
                      </m:f>
                      <m:r>
                        <a:rPr lang="fr-CA" sz="2800" b="0" i="1" smtClean="0">
                          <a:latin typeface="Cambria Math" panose="02040503050406030204" pitchFamily="18" charset="0"/>
                          <a:ea typeface="Cambria" panose="02040503050406030204" pitchFamily="18" charset="0"/>
                        </a:rPr>
                        <m:t>=</m:t>
                      </m:r>
                      <m:f>
                        <m:fPr>
                          <m:ctrlPr>
                            <a:rPr lang="fr-CA" sz="2800" b="0" i="1" smtClean="0">
                              <a:latin typeface="Cambria Math" panose="02040503050406030204" pitchFamily="18" charset="0"/>
                              <a:ea typeface="Cambria" panose="02040503050406030204" pitchFamily="18" charset="0"/>
                            </a:rPr>
                          </m:ctrlPr>
                        </m:fPr>
                        <m:num>
                          <m:r>
                            <a:rPr lang="fr-CA" sz="2800" b="0" i="1" smtClean="0">
                              <a:latin typeface="Cambria Math" panose="02040503050406030204" pitchFamily="18" charset="0"/>
                              <a:ea typeface="Cambria" panose="02040503050406030204" pitchFamily="18" charset="0"/>
                            </a:rPr>
                            <m:t>2</m:t>
                          </m:r>
                          <m:rad>
                            <m:radPr>
                              <m:degHide m:val="on"/>
                              <m:ctrlPr>
                                <a:rPr lang="fr-CA" sz="2800" b="0" i="1" smtClean="0">
                                  <a:latin typeface="Cambria Math" panose="02040503050406030204" pitchFamily="18" charset="0"/>
                                  <a:ea typeface="Cambria" panose="02040503050406030204" pitchFamily="18" charset="0"/>
                                </a:rPr>
                              </m:ctrlPr>
                            </m:radPr>
                            <m:deg/>
                            <m:e>
                              <m:r>
                                <a:rPr lang="fr-CA" sz="2800" b="0" i="1" smtClean="0">
                                  <a:latin typeface="Cambria Math" panose="02040503050406030204" pitchFamily="18" charset="0"/>
                                  <a:ea typeface="Cambria" panose="02040503050406030204" pitchFamily="18" charset="0"/>
                                </a:rPr>
                                <m:t>2</m:t>
                              </m:r>
                            </m:e>
                          </m:rad>
                        </m:num>
                        <m:den>
                          <m:r>
                            <a:rPr lang="fr-CA" sz="2800" b="0" i="1" smtClean="0">
                              <a:latin typeface="Cambria Math" panose="02040503050406030204" pitchFamily="18" charset="0"/>
                              <a:ea typeface="Cambria" panose="02040503050406030204" pitchFamily="18" charset="0"/>
                            </a:rPr>
                            <m:t>9 801</m:t>
                          </m:r>
                        </m:den>
                      </m:f>
                      <m:r>
                        <a:rPr lang="fr-CA" sz="2800" b="0" i="1" smtClean="0">
                          <a:latin typeface="Cambria Math" panose="02040503050406030204" pitchFamily="18" charset="0"/>
                          <a:ea typeface="Cambria" panose="02040503050406030204" pitchFamily="18" charset="0"/>
                        </a:rPr>
                        <m:t>⋅</m:t>
                      </m:r>
                      <m:nary>
                        <m:naryPr>
                          <m:chr m:val="∑"/>
                          <m:ctrlPr>
                            <a:rPr lang="fr-CA" sz="2800" b="0" i="1" smtClean="0">
                              <a:latin typeface="Cambria Math" panose="02040503050406030204" pitchFamily="18" charset="0"/>
                              <a:ea typeface="Cambria" panose="02040503050406030204" pitchFamily="18" charset="0"/>
                            </a:rPr>
                          </m:ctrlPr>
                        </m:naryPr>
                        <m:sub>
                          <m:r>
                            <m:rPr>
                              <m:brk m:alnAt="23"/>
                            </m:rP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−0</m:t>
                          </m:r>
                        </m:sub>
                        <m:sup>
                          <m:r>
                            <a:rPr lang="fr-CA" sz="2800" b="0" i="1" smtClean="0">
                              <a:latin typeface="Cambria Math" panose="02040503050406030204" pitchFamily="18" charset="0"/>
                              <a:ea typeface="Cambria" panose="02040503050406030204" pitchFamily="18" charset="0"/>
                            </a:rPr>
                            <m:t>∞</m:t>
                          </m:r>
                        </m:sup>
                        <m:e>
                          <m:f>
                            <m:fPr>
                              <m:ctrlPr>
                                <a:rPr lang="fr-CA" sz="2800" b="0" i="1" smtClean="0">
                                  <a:latin typeface="Cambria Math" panose="02040503050406030204" pitchFamily="18" charset="0"/>
                                  <a:ea typeface="Cambria" panose="02040503050406030204" pitchFamily="18" charset="0"/>
                                </a:rPr>
                              </m:ctrlPr>
                            </m:fPr>
                            <m:num>
                              <m:d>
                                <m:dPr>
                                  <m:ctrlPr>
                                    <a:rPr lang="fr-CA" sz="2800" b="0" i="1" smtClean="0">
                                      <a:latin typeface="Cambria Math" panose="02040503050406030204" pitchFamily="18" charset="0"/>
                                      <a:ea typeface="Cambria" panose="02040503050406030204" pitchFamily="18" charset="0"/>
                                    </a:rPr>
                                  </m:ctrlPr>
                                </m:dPr>
                                <m:e>
                                  <m:r>
                                    <a:rPr lang="fr-CA" sz="2800" b="0" i="1" smtClean="0">
                                      <a:latin typeface="Cambria Math" panose="02040503050406030204" pitchFamily="18" charset="0"/>
                                      <a:ea typeface="Cambria" panose="02040503050406030204" pitchFamily="18" charset="0"/>
                                    </a:rPr>
                                    <m:t>4</m:t>
                                  </m:r>
                                  <m:r>
                                    <a:rPr lang="fr-CA" sz="2800" b="0" i="1" smtClean="0">
                                      <a:latin typeface="Cambria Math" panose="02040503050406030204" pitchFamily="18" charset="0"/>
                                      <a:ea typeface="Cambria" panose="02040503050406030204" pitchFamily="18" charset="0"/>
                                    </a:rPr>
                                    <m:t>𝑛</m:t>
                                  </m:r>
                                </m:e>
                              </m:d>
                              <m:r>
                                <a:rPr lang="fr-CA" sz="2800" b="0" i="1" smtClean="0">
                                  <a:latin typeface="Cambria Math" panose="02040503050406030204" pitchFamily="18" charset="0"/>
                                  <a:ea typeface="Cambria" panose="02040503050406030204" pitchFamily="18" charset="0"/>
                                </a:rPr>
                                <m:t>!⋅</m:t>
                              </m:r>
                              <m:d>
                                <m:dPr>
                                  <m:ctrlPr>
                                    <a:rPr lang="fr-CA" sz="2800" b="0" i="1" smtClean="0">
                                      <a:latin typeface="Cambria Math" panose="02040503050406030204" pitchFamily="18" charset="0"/>
                                      <a:ea typeface="Cambria" panose="02040503050406030204" pitchFamily="18" charset="0"/>
                                    </a:rPr>
                                  </m:ctrlPr>
                                </m:dPr>
                                <m:e>
                                  <m:r>
                                    <a:rPr lang="fr-CA" sz="2800" b="0" i="1" smtClean="0">
                                      <a:latin typeface="Cambria Math" panose="02040503050406030204" pitchFamily="18" charset="0"/>
                                      <a:ea typeface="Cambria" panose="02040503050406030204" pitchFamily="18" charset="0"/>
                                    </a:rPr>
                                    <m:t>1 103+26 390</m:t>
                                  </m:r>
                                  <m:r>
                                    <a:rPr lang="fr-CA" sz="2800" b="0" i="1" smtClean="0">
                                      <a:latin typeface="Cambria Math" panose="02040503050406030204" pitchFamily="18" charset="0"/>
                                      <a:ea typeface="Cambria" panose="02040503050406030204" pitchFamily="18" charset="0"/>
                                    </a:rPr>
                                    <m:t>𝑛</m:t>
                                  </m:r>
                                </m:e>
                              </m:d>
                            </m:num>
                            <m:den>
                              <m:sSup>
                                <m:sSupPr>
                                  <m:ctrlPr>
                                    <a:rPr lang="fr-CA" sz="2800" b="0" i="1" smtClean="0">
                                      <a:latin typeface="Cambria Math" panose="02040503050406030204" pitchFamily="18" charset="0"/>
                                      <a:ea typeface="Cambria" panose="02040503050406030204" pitchFamily="18" charset="0"/>
                                    </a:rPr>
                                  </m:ctrlPr>
                                </m:sSupPr>
                                <m:e>
                                  <m:d>
                                    <m:dPr>
                                      <m:ctrlPr>
                                        <a:rPr lang="fr-CA" sz="2800" b="0" i="1" smtClean="0">
                                          <a:latin typeface="Cambria Math" panose="02040503050406030204" pitchFamily="18" charset="0"/>
                                          <a:ea typeface="Cambria" panose="02040503050406030204" pitchFamily="18" charset="0"/>
                                        </a:rPr>
                                      </m:ctrlPr>
                                    </m:dPr>
                                    <m:e>
                                      <m: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m:t>
                                      </m:r>
                                    </m:e>
                                  </m:d>
                                </m:e>
                                <m:sup>
                                  <m:r>
                                    <a:rPr lang="fr-CA" sz="2800" b="0" i="1" smtClean="0">
                                      <a:latin typeface="Cambria Math" panose="02040503050406030204" pitchFamily="18" charset="0"/>
                                      <a:ea typeface="Cambria" panose="02040503050406030204" pitchFamily="18" charset="0"/>
                                    </a:rPr>
                                    <m:t>4</m:t>
                                  </m:r>
                                </m:sup>
                              </m:sSup>
                              <m:r>
                                <a:rPr lang="fr-CA" sz="2800" b="0" i="1" smtClean="0">
                                  <a:latin typeface="Cambria Math" panose="02040503050406030204" pitchFamily="18" charset="0"/>
                                  <a:ea typeface="Cambria" panose="02040503050406030204" pitchFamily="18" charset="0"/>
                                </a:rPr>
                                <m:t>⋅</m:t>
                              </m:r>
                              <m:sSup>
                                <m:sSupPr>
                                  <m:ctrlPr>
                                    <a:rPr lang="fr-CA" sz="2800" b="0" i="1" smtClean="0">
                                      <a:latin typeface="Cambria Math" panose="02040503050406030204" pitchFamily="18" charset="0"/>
                                      <a:ea typeface="Cambria" panose="02040503050406030204" pitchFamily="18" charset="0"/>
                                    </a:rPr>
                                  </m:ctrlPr>
                                </m:sSupPr>
                                <m:e>
                                  <m:r>
                                    <a:rPr lang="fr-CA" sz="2800" b="0" i="1" smtClean="0">
                                      <a:latin typeface="Cambria Math" panose="02040503050406030204" pitchFamily="18" charset="0"/>
                                      <a:ea typeface="Cambria" panose="02040503050406030204" pitchFamily="18" charset="0"/>
                                    </a:rPr>
                                    <m:t>396</m:t>
                                  </m:r>
                                </m:e>
                                <m:sup>
                                  <m:r>
                                    <a:rPr lang="fr-CA" sz="2800" b="0" i="1" smtClean="0">
                                      <a:latin typeface="Cambria Math" panose="02040503050406030204" pitchFamily="18" charset="0"/>
                                      <a:ea typeface="Cambria" panose="02040503050406030204" pitchFamily="18" charset="0"/>
                                    </a:rPr>
                                    <m:t>4</m:t>
                                  </m:r>
                                  <m:r>
                                    <a:rPr lang="fr-CA" sz="2800" b="0" i="1" smtClean="0">
                                      <a:latin typeface="Cambria Math" panose="02040503050406030204" pitchFamily="18" charset="0"/>
                                      <a:ea typeface="Cambria" panose="02040503050406030204" pitchFamily="18" charset="0"/>
                                    </a:rPr>
                                    <m:t>𝑛</m:t>
                                  </m:r>
                                </m:sup>
                              </m:sSup>
                            </m:den>
                          </m:f>
                        </m:e>
                      </m:nary>
                    </m:oMath>
                  </m:oMathPara>
                </a14:m>
                <a:endParaRPr lang="fr-CA" sz="2800" b="0" dirty="0">
                  <a:latin typeface="Cambria" panose="02040503050406030204" pitchFamily="18" charset="0"/>
                  <a:ea typeface="Cambria" panose="02040503050406030204" pitchFamily="18" charset="0"/>
                </a:endParaRPr>
              </a:p>
              <a:p>
                <a:pPr marL="0" indent="0">
                  <a:buNone/>
                </a:pPr>
                <a:endParaRPr lang="fr-CA" sz="2800" b="0" dirty="0">
                  <a:latin typeface="Cambria" panose="02040503050406030204" pitchFamily="18" charset="0"/>
                  <a:ea typeface="Cambria" panose="02040503050406030204" pitchFamily="18" charset="0"/>
                </a:endParaRPr>
              </a:p>
              <a:p>
                <a:pPr marL="0" indent="0">
                  <a:buNone/>
                </a:pPr>
                <a:r>
                  <a:rPr lang="fr-CA" dirty="0">
                    <a:latin typeface="Cambria" panose="02040503050406030204" pitchFamily="18" charset="0"/>
                    <a:ea typeface="Cambria" panose="02040503050406030204" pitchFamily="18" charset="0"/>
                  </a:rPr>
                  <a:t>(100 milliards de décimales)</a:t>
                </a:r>
                <a:endParaRPr lang="fr-CA" sz="2800" b="0" dirty="0">
                  <a:latin typeface="Cambria" panose="02040503050406030204" pitchFamily="18" charset="0"/>
                  <a:ea typeface="Cambria" panose="02040503050406030204" pitchFamily="18" charset="0"/>
                </a:endParaRPr>
              </a:p>
            </p:txBody>
          </p:sp>
        </mc:Choice>
        <mc:Fallback>
          <p:sp>
            <p:nvSpPr>
              <p:cNvPr id="3" name="Espace réservé du contenu 2">
                <a:extLst>
                  <a:ext uri="{FF2B5EF4-FFF2-40B4-BE49-F238E27FC236}">
                    <a16:creationId xmlns:a16="http://schemas.microsoft.com/office/drawing/2014/main" id="{029A9B85-068D-42A7-BF58-06C2F9956747}"/>
                  </a:ext>
                </a:extLst>
              </p:cNvPr>
              <p:cNvSpPr>
                <a:spLocks noGrp="1" noRot="1" noChangeAspect="1" noMove="1" noResize="1" noEditPoints="1" noAdjustHandles="1" noChangeArrowheads="1" noChangeShapeType="1" noTextEdit="1"/>
              </p:cNvSpPr>
              <p:nvPr>
                <p:ph idx="1"/>
              </p:nvPr>
            </p:nvSpPr>
            <p:spPr>
              <a:xfrm>
                <a:off x="0" y="954505"/>
                <a:ext cx="12192000" cy="5903495"/>
              </a:xfrm>
              <a:blipFill>
                <a:blip r:embed="rId3"/>
                <a:stretch>
                  <a:fillRect l="-1000" t="-1860"/>
                </a:stretch>
              </a:blipFill>
            </p:spPr>
            <p:txBody>
              <a:bodyPr/>
              <a:lstStyle/>
              <a:p>
                <a:r>
                  <a:rPr lang="fr-CA">
                    <a:noFill/>
                  </a:rPr>
                  <a:t> </a:t>
                </a:r>
              </a:p>
            </p:txBody>
          </p:sp>
        </mc:Fallback>
      </mc:AlternateContent>
    </p:spTree>
    <p:extLst>
      <p:ext uri="{BB962C8B-B14F-4D97-AF65-F5344CB8AC3E}">
        <p14:creationId xmlns:p14="http://schemas.microsoft.com/office/powerpoint/2010/main" val="1111677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0412D-E7F6-A38D-4056-926AC808E8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BF9E7E9-70C2-611C-332A-72220574066F}"/>
              </a:ext>
            </a:extLst>
          </p:cNvPr>
          <p:cNvSpPr>
            <a:spLocks noGrp="1"/>
          </p:cNvSpPr>
          <p:nvPr>
            <p:ph type="title"/>
          </p:nvPr>
        </p:nvSpPr>
        <p:spPr>
          <a:xfrm>
            <a:off x="0" y="0"/>
            <a:ext cx="12192000" cy="858254"/>
          </a:xfrm>
        </p:spPr>
        <p:txBody>
          <a:bodyPr>
            <a:normAutofit/>
          </a:bodyPr>
          <a:lstStyle/>
          <a:p>
            <a:r>
              <a:rPr lang="fr-CA" b="1" dirty="0">
                <a:solidFill>
                  <a:srgbClr val="00B050"/>
                </a:solidFill>
                <a:latin typeface="Cambria" panose="02040503050406030204" pitchFamily="18" charset="0"/>
                <a:ea typeface="Cambria" panose="02040503050406030204" pitchFamily="18" charset="0"/>
              </a:rPr>
              <a:t>Séries de Taylor | Approximer de solutions</a:t>
            </a:r>
          </a:p>
        </p:txBody>
      </p:sp>
      <p:pic>
        <p:nvPicPr>
          <p:cNvPr id="4" name="Média en ligne 3" title="Taylor series | Chapter 11, Essence of calculus">
            <a:hlinkClick r:id="" action="ppaction://media"/>
            <a:extLst>
              <a:ext uri="{FF2B5EF4-FFF2-40B4-BE49-F238E27FC236}">
                <a16:creationId xmlns:a16="http://schemas.microsoft.com/office/drawing/2014/main" id="{50A744D6-CC77-FA68-099D-05F696E588E5}"/>
              </a:ext>
            </a:extLst>
          </p:cNvPr>
          <p:cNvPicPr>
            <a:picLocks noGrp="1" noRot="1" noChangeAspect="1"/>
          </p:cNvPicPr>
          <p:nvPr>
            <p:ph idx="1"/>
            <a:videoFile r:link="rId1"/>
          </p:nvPr>
        </p:nvPicPr>
        <p:blipFill>
          <a:blip r:embed="rId3"/>
          <a:stretch>
            <a:fillRect/>
          </a:stretch>
        </p:blipFill>
        <p:spPr>
          <a:xfrm>
            <a:off x="871538" y="954088"/>
            <a:ext cx="10448925" cy="5903912"/>
          </a:xfrm>
          <a:prstGeom prst="rect">
            <a:avLst/>
          </a:prstGeom>
        </p:spPr>
      </p:pic>
    </p:spTree>
    <p:extLst>
      <p:ext uri="{BB962C8B-B14F-4D97-AF65-F5344CB8AC3E}">
        <p14:creationId xmlns:p14="http://schemas.microsoft.com/office/powerpoint/2010/main" val="3399424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0BEEF-BA33-BF18-56DD-DFA6C9C48F2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365A9C-4BC7-79F2-4323-8C843DCC8C4C}"/>
              </a:ext>
            </a:extLst>
          </p:cNvPr>
          <p:cNvSpPr>
            <a:spLocks noGrp="1"/>
          </p:cNvSpPr>
          <p:nvPr>
            <p:ph type="title"/>
          </p:nvPr>
        </p:nvSpPr>
        <p:spPr>
          <a:xfrm>
            <a:off x="0" y="0"/>
            <a:ext cx="12192000" cy="858254"/>
          </a:xfrm>
        </p:spPr>
        <p:txBody>
          <a:bodyPr>
            <a:normAutofit/>
          </a:bodyPr>
          <a:lstStyle/>
          <a:p>
            <a:r>
              <a:rPr lang="fr-CA" b="1" dirty="0">
                <a:solidFill>
                  <a:srgbClr val="7030A0"/>
                </a:solidFill>
                <a:latin typeface="Cambria" panose="02040503050406030204" pitchFamily="18" charset="0"/>
                <a:ea typeface="Cambria" panose="02040503050406030204" pitchFamily="18" charset="0"/>
              </a:rPr>
              <a:t>Suites | Fibonacci</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15365059-0666-D361-8BD2-46ED3E7191D8}"/>
                  </a:ext>
                </a:extLst>
              </p:cNvPr>
              <p:cNvSpPr>
                <a:spLocks noGrp="1"/>
              </p:cNvSpPr>
              <p:nvPr>
                <p:ph idx="1"/>
              </p:nvPr>
            </p:nvSpPr>
            <p:spPr>
              <a:xfrm>
                <a:off x="0" y="954504"/>
                <a:ext cx="12192000" cy="5903495"/>
              </a:xfrm>
            </p:spPr>
            <p:txBody>
              <a:bodyPr>
                <a:normAutofit/>
              </a:bodyPr>
              <a:lstStyle/>
              <a:p>
                <a:pPr marL="0" indent="0">
                  <a:lnSpc>
                    <a:spcPct val="100000"/>
                  </a:lnSpc>
                  <a:buNone/>
                </a:pPr>
                <a:r>
                  <a:rPr lang="fr-CA" dirty="0">
                    <a:latin typeface="Cambria" panose="02040503050406030204" pitchFamily="18" charset="0"/>
                    <a:ea typeface="Cambria" panose="02040503050406030204" pitchFamily="18" charset="0"/>
                  </a:rPr>
                  <a:t>« Quelqu’un a déposé un couple de lapins dans un certain lieu, clos de toutes parts, pour savoir combien de couples seraient issus de cette paire en une année, car il est dans leur nature de générer un autre couple en un seul mois, et qu’ils enfantent dans le second mois après leur naissance. »</a:t>
                </a:r>
              </a:p>
              <a:p>
                <a:pPr marL="0" indent="0">
                  <a:lnSpc>
                    <a:spcPct val="100000"/>
                  </a:lnSpc>
                  <a:buNone/>
                </a:pPr>
                <a:endParaRPr lang="fr-CA" dirty="0">
                  <a:latin typeface="Cambria" panose="02040503050406030204" pitchFamily="18" charset="0"/>
                  <a:ea typeface="Cambria" panose="02040503050406030204" pitchFamily="18" charset="0"/>
                </a:endParaRPr>
              </a:p>
              <a:p>
                <a:pPr marL="0" indent="0">
                  <a:lnSpc>
                    <a:spcPct val="100000"/>
                  </a:lnSpc>
                  <a:buNone/>
                </a:pPr>
                <a14:m>
                  <m:oMath xmlns:m="http://schemas.openxmlformats.org/officeDocument/2006/math">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𝑛</m:t>
                        </m:r>
                      </m:sub>
                    </m:sSub>
                  </m:oMath>
                </a14:m>
                <a:r>
                  <a:rPr lang="fr-CA" dirty="0">
                    <a:latin typeface="Cambria" panose="02040503050406030204" pitchFamily="18" charset="0"/>
                    <a:ea typeface="Cambria" panose="02040503050406030204" pitchFamily="18" charset="0"/>
                  </a:rPr>
                  <a:t> : Nombre de couples de lapins au début du mois </a:t>
                </a:r>
                <a14:m>
                  <m:oMath xmlns:m="http://schemas.openxmlformats.org/officeDocument/2006/math">
                    <m:r>
                      <a:rPr lang="fr-CA" b="0" i="1" smtClean="0">
                        <a:latin typeface="Cambria Math" panose="02040503050406030204" pitchFamily="18" charset="0"/>
                        <a:ea typeface="Cambria" panose="02040503050406030204" pitchFamily="18" charset="0"/>
                      </a:rPr>
                      <m:t>𝑛</m:t>
                    </m:r>
                  </m:oMath>
                </a14:m>
                <a:endParaRPr lang="fr-CA" dirty="0">
                  <a:latin typeface="Cambria" panose="02040503050406030204" pitchFamily="18" charset="0"/>
                  <a:ea typeface="Cambria" panose="02040503050406030204" pitchFamily="18" charset="0"/>
                </a:endParaRPr>
              </a:p>
              <a:p>
                <a:pPr marL="457200" lvl="1" indent="0">
                  <a:lnSpc>
                    <a:spcPct val="100000"/>
                  </a:lnSpc>
                  <a:buNone/>
                </a:pPr>
                <a14:m>
                  <m:oMathPara xmlns:m="http://schemas.openxmlformats.org/officeDocument/2006/math">
                    <m:oMathParaPr>
                      <m:jc m:val="left"/>
                    </m:oMathParaPr>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𝑎</m:t>
                          </m:r>
                        </m:e>
                        <m:sub>
                          <m:r>
                            <a:rPr lang="fr-CA" sz="2800" b="0" i="1" smtClean="0">
                              <a:latin typeface="Cambria Math" panose="02040503050406030204" pitchFamily="18" charset="0"/>
                              <a:ea typeface="Cambria" panose="02040503050406030204" pitchFamily="18" charset="0"/>
                            </a:rPr>
                            <m:t>1</m:t>
                          </m:r>
                        </m:sub>
                      </m:sSub>
                      <m:r>
                        <a:rPr lang="fr-CA" sz="2800" b="0" i="1" smtClean="0">
                          <a:latin typeface="Cambria Math" panose="02040503050406030204" pitchFamily="18" charset="0"/>
                          <a:ea typeface="Cambria" panose="02040503050406030204" pitchFamily="18" charset="0"/>
                        </a:rPr>
                        <m:t>=1</m:t>
                      </m:r>
                    </m:oMath>
                  </m:oMathPara>
                </a14:m>
                <a:endParaRPr lang="fr-CA" sz="2800" b="0" dirty="0">
                  <a:latin typeface="Cambria" panose="02040503050406030204" pitchFamily="18" charset="0"/>
                  <a:ea typeface="Cambria" panose="02040503050406030204" pitchFamily="18" charset="0"/>
                </a:endParaRPr>
              </a:p>
              <a:p>
                <a:pPr marL="457200" lvl="1" indent="0">
                  <a:lnSpc>
                    <a:spcPct val="100000"/>
                  </a:lnSpc>
                  <a:buNone/>
                </a:pPr>
                <a14:m>
                  <m:oMathPara xmlns:m="http://schemas.openxmlformats.org/officeDocument/2006/math">
                    <m:oMathParaPr>
                      <m:jc m:val="left"/>
                    </m:oMathParaPr>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𝑎</m:t>
                          </m:r>
                        </m:e>
                        <m:sub>
                          <m:r>
                            <a:rPr lang="fr-CA" sz="2800" b="0" i="1" smtClean="0">
                              <a:latin typeface="Cambria Math" panose="02040503050406030204" pitchFamily="18" charset="0"/>
                              <a:ea typeface="Cambria" panose="02040503050406030204" pitchFamily="18" charset="0"/>
                            </a:rPr>
                            <m:t>2</m:t>
                          </m:r>
                        </m:sub>
                      </m:sSub>
                      <m:r>
                        <a:rPr lang="fr-CA" sz="2800" b="0" i="1" smtClean="0">
                          <a:latin typeface="Cambria Math" panose="02040503050406030204" pitchFamily="18" charset="0"/>
                          <a:ea typeface="Cambria" panose="02040503050406030204" pitchFamily="18" charset="0"/>
                        </a:rPr>
                        <m:t>=1</m:t>
                      </m:r>
                    </m:oMath>
                  </m:oMathPara>
                </a14:m>
                <a:endParaRPr lang="fr-CA" sz="2800" b="0" dirty="0">
                  <a:latin typeface="Cambria" panose="02040503050406030204" pitchFamily="18" charset="0"/>
                  <a:ea typeface="Cambria" panose="02040503050406030204" pitchFamily="18" charset="0"/>
                </a:endParaRPr>
              </a:p>
              <a:p>
                <a:pPr marL="457200" lvl="1" indent="0">
                  <a:lnSpc>
                    <a:spcPct val="100000"/>
                  </a:lnSpc>
                  <a:buNone/>
                </a:pPr>
                <a14:m>
                  <m:oMathPara xmlns:m="http://schemas.openxmlformats.org/officeDocument/2006/math">
                    <m:oMathParaPr>
                      <m:jc m:val="left"/>
                    </m:oMathParaPr>
                    <m:oMath xmlns:m="http://schemas.openxmlformats.org/officeDocument/2006/math">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𝑎</m:t>
                          </m:r>
                        </m:e>
                        <m:sub>
                          <m: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+2</m:t>
                          </m:r>
                        </m:sub>
                      </m:sSub>
                      <m:r>
                        <a:rPr lang="fr-CA" sz="2800" b="0" i="1" smtClean="0">
                          <a:latin typeface="Cambria Math" panose="02040503050406030204" pitchFamily="18" charset="0"/>
                          <a:ea typeface="Cambria" panose="02040503050406030204" pitchFamily="18" charset="0"/>
                        </a:rPr>
                        <m:t>=</m:t>
                      </m:r>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𝑎</m:t>
                          </m:r>
                        </m:e>
                        <m:sub>
                          <m:r>
                            <a:rPr lang="fr-CA" sz="2800" b="0" i="1" smtClean="0">
                              <a:latin typeface="Cambria Math" panose="02040503050406030204" pitchFamily="18" charset="0"/>
                              <a:ea typeface="Cambria" panose="02040503050406030204" pitchFamily="18" charset="0"/>
                            </a:rPr>
                            <m:t>𝑛</m:t>
                          </m:r>
                        </m:sub>
                      </m:sSub>
                      <m:r>
                        <a:rPr lang="fr-CA" sz="2800" b="0" i="1" smtClean="0">
                          <a:latin typeface="Cambria Math" panose="02040503050406030204" pitchFamily="18" charset="0"/>
                          <a:ea typeface="Cambria" panose="02040503050406030204" pitchFamily="18" charset="0"/>
                        </a:rPr>
                        <m:t>+</m:t>
                      </m:r>
                      <m:sSub>
                        <m:sSubPr>
                          <m:ctrlPr>
                            <a:rPr lang="fr-CA" sz="2800" b="0" i="1" smtClean="0">
                              <a:latin typeface="Cambria Math" panose="02040503050406030204" pitchFamily="18" charset="0"/>
                              <a:ea typeface="Cambria" panose="02040503050406030204" pitchFamily="18" charset="0"/>
                            </a:rPr>
                          </m:ctrlPr>
                        </m:sSubPr>
                        <m:e>
                          <m:r>
                            <a:rPr lang="fr-CA" sz="2800" b="0" i="1" smtClean="0">
                              <a:latin typeface="Cambria Math" panose="02040503050406030204" pitchFamily="18" charset="0"/>
                              <a:ea typeface="Cambria" panose="02040503050406030204" pitchFamily="18" charset="0"/>
                            </a:rPr>
                            <m:t>𝑎</m:t>
                          </m:r>
                        </m:e>
                        <m:sub>
                          <m:r>
                            <a:rPr lang="fr-CA" sz="2800" b="0" i="1" smtClean="0">
                              <a:latin typeface="Cambria Math" panose="02040503050406030204" pitchFamily="18" charset="0"/>
                              <a:ea typeface="Cambria" panose="02040503050406030204" pitchFamily="18" charset="0"/>
                            </a:rPr>
                            <m:t>𝑛</m:t>
                          </m:r>
                          <m:r>
                            <a:rPr lang="fr-CA" sz="2800" b="0" i="1" smtClean="0">
                              <a:latin typeface="Cambria Math" panose="02040503050406030204" pitchFamily="18" charset="0"/>
                              <a:ea typeface="Cambria" panose="02040503050406030204" pitchFamily="18" charset="0"/>
                            </a:rPr>
                            <m:t>+1</m:t>
                          </m:r>
                        </m:sub>
                      </m:sSub>
                    </m:oMath>
                  </m:oMathPara>
                </a14:m>
                <a:endParaRPr lang="fr-CA" sz="2800" b="0" dirty="0">
                  <a:latin typeface="Cambria" panose="02040503050406030204" pitchFamily="18" charset="0"/>
                  <a:ea typeface="Cambria" panose="02040503050406030204" pitchFamily="18" charset="0"/>
                </a:endParaRPr>
              </a:p>
              <a:p>
                <a:pPr marL="0" indent="0">
                  <a:lnSpc>
                    <a:spcPct val="100000"/>
                  </a:lnSpc>
                  <a:buNone/>
                </a:pPr>
                <a:endParaRPr lang="fr-CA" b="0" dirty="0">
                  <a:latin typeface="Cambria" panose="02040503050406030204" pitchFamily="18" charset="0"/>
                  <a:ea typeface="Cambria" panose="020405030504060302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d>
                        <m:dPr>
                          <m:begChr m:val="{"/>
                          <m:endChr m:val="}"/>
                          <m:ctrlPr>
                            <a:rPr lang="fr-CA" b="0" i="1" smtClean="0">
                              <a:latin typeface="Cambria Math" panose="02040503050406030204" pitchFamily="18" charset="0"/>
                              <a:ea typeface="Cambria" panose="02040503050406030204" pitchFamily="18" charset="0"/>
                            </a:rPr>
                          </m:ctrlPr>
                        </m:dPr>
                        <m:e>
                          <m:sSub>
                            <m:sSubPr>
                              <m:ctrlPr>
                                <a:rPr lang="fr-CA" b="0" i="1" smtClean="0">
                                  <a:latin typeface="Cambria Math" panose="02040503050406030204" pitchFamily="18" charset="0"/>
                                  <a:ea typeface="Cambria" panose="02040503050406030204" pitchFamily="18" charset="0"/>
                                </a:rPr>
                              </m:ctrlPr>
                            </m:sSubPr>
                            <m:e>
                              <m:r>
                                <a:rPr lang="fr-CA" b="0" i="1" smtClean="0">
                                  <a:latin typeface="Cambria Math" panose="02040503050406030204" pitchFamily="18" charset="0"/>
                                  <a:ea typeface="Cambria" panose="02040503050406030204" pitchFamily="18" charset="0"/>
                                </a:rPr>
                                <m:t>𝑎</m:t>
                              </m:r>
                            </m:e>
                            <m:sub>
                              <m:r>
                                <a:rPr lang="fr-CA" b="0" i="1" smtClean="0">
                                  <a:latin typeface="Cambria Math" panose="02040503050406030204" pitchFamily="18" charset="0"/>
                                  <a:ea typeface="Cambria" panose="02040503050406030204" pitchFamily="18" charset="0"/>
                                </a:rPr>
                                <m:t>𝑛</m:t>
                              </m:r>
                            </m:sub>
                          </m:sSub>
                        </m:e>
                      </m:d>
                      <m:r>
                        <a:rPr lang="fr-CA" b="0" i="1" smtClean="0">
                          <a:latin typeface="Cambria Math" panose="02040503050406030204" pitchFamily="18" charset="0"/>
                          <a:ea typeface="Cambria" panose="02040503050406030204" pitchFamily="18" charset="0"/>
                        </a:rPr>
                        <m:t>=</m:t>
                      </m:r>
                      <m:d>
                        <m:dPr>
                          <m:begChr m:val="{"/>
                          <m:endChr m:val="}"/>
                          <m:ctrlPr>
                            <a:rPr lang="fr-CA" b="0" i="1" smtClean="0">
                              <a:latin typeface="Cambria Math" panose="02040503050406030204" pitchFamily="18" charset="0"/>
                              <a:ea typeface="Cambria" panose="02040503050406030204" pitchFamily="18" charset="0"/>
                            </a:rPr>
                          </m:ctrlPr>
                        </m:dPr>
                        <m:e>
                          <m:r>
                            <a:rPr lang="fr-CA" b="0" i="1" smtClean="0">
                              <a:latin typeface="Cambria Math" panose="02040503050406030204" pitchFamily="18" charset="0"/>
                              <a:ea typeface="Cambria" panose="02040503050406030204" pitchFamily="18" charset="0"/>
                            </a:rPr>
                            <m:t>1, 1, 2, 3, 5, 8, 13, 21, 34, 55, 89, …</m:t>
                          </m:r>
                        </m:e>
                      </m:d>
                    </m:oMath>
                  </m:oMathPara>
                </a14:m>
                <a:endParaRPr lang="fr-CA" b="0" dirty="0">
                  <a:latin typeface="Cambria" panose="02040503050406030204" pitchFamily="18" charset="0"/>
                  <a:ea typeface="Cambria" panose="02040503050406030204" pitchFamily="18" charset="0"/>
                </a:endParaRPr>
              </a:p>
            </p:txBody>
          </p:sp>
        </mc:Choice>
        <mc:Fallback>
          <p:sp>
            <p:nvSpPr>
              <p:cNvPr id="3" name="Espace réservé du contenu 2">
                <a:extLst>
                  <a:ext uri="{FF2B5EF4-FFF2-40B4-BE49-F238E27FC236}">
                    <a16:creationId xmlns:a16="http://schemas.microsoft.com/office/drawing/2014/main" id="{15365059-0666-D361-8BD2-46ED3E7191D8}"/>
                  </a:ext>
                </a:extLst>
              </p:cNvPr>
              <p:cNvSpPr>
                <a:spLocks noGrp="1" noRot="1" noChangeAspect="1" noMove="1" noResize="1" noEditPoints="1" noAdjustHandles="1" noChangeArrowheads="1" noChangeShapeType="1" noTextEdit="1"/>
              </p:cNvSpPr>
              <p:nvPr>
                <p:ph idx="1"/>
              </p:nvPr>
            </p:nvSpPr>
            <p:spPr>
              <a:xfrm>
                <a:off x="0" y="954504"/>
                <a:ext cx="12192000" cy="5903495"/>
              </a:xfrm>
              <a:blipFill>
                <a:blip r:embed="rId2"/>
                <a:stretch>
                  <a:fillRect l="-1000" t="-1136" r="-1100"/>
                </a:stretch>
              </a:blipFill>
            </p:spPr>
            <p:txBody>
              <a:bodyPr/>
              <a:lstStyle/>
              <a:p>
                <a:r>
                  <a:rPr lang="fr-CA">
                    <a:noFill/>
                  </a:rPr>
                  <a:t> </a:t>
                </a:r>
              </a:p>
            </p:txBody>
          </p:sp>
        </mc:Fallback>
      </mc:AlternateContent>
    </p:spTree>
    <p:extLst>
      <p:ext uri="{BB962C8B-B14F-4D97-AF65-F5344CB8AC3E}">
        <p14:creationId xmlns:p14="http://schemas.microsoft.com/office/powerpoint/2010/main" val="211042482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06884cb-4c3d-4659-be02-3fdee546667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150137AD91FE64DB8B269E256E7B102" ma:contentTypeVersion="18" ma:contentTypeDescription="Crée un document." ma:contentTypeScope="" ma:versionID="de60b7e882602d5b375768db2ef6a440">
  <xsd:schema xmlns:xsd="http://www.w3.org/2001/XMLSchema" xmlns:xs="http://www.w3.org/2001/XMLSchema" xmlns:p="http://schemas.microsoft.com/office/2006/metadata/properties" xmlns:ns3="f06884cb-4c3d-4659-be02-3fdee5466676" xmlns:ns4="68a071d9-4ed1-4b7f-a48d-922aa67ec4ae" targetNamespace="http://schemas.microsoft.com/office/2006/metadata/properties" ma:root="true" ma:fieldsID="3599fb5bb452a364291ce86745e9623f" ns3:_="" ns4:_="">
    <xsd:import namespace="f06884cb-4c3d-4659-be02-3fdee5466676"/>
    <xsd:import namespace="68a071d9-4ed1-4b7f-a48d-922aa67ec4a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DateTaken" minOccurs="0"/>
                <xsd:element ref="ns3:_activity" minOccurs="0"/>
                <xsd:element ref="ns3:MediaServiceObjectDetectorVersions" minOccurs="0"/>
                <xsd:element ref="ns3:MediaServiceLocation"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6884cb-4c3d-4659-be02-3fdee54666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ternalName="MediaServiceDateTaken"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8a071d9-4ed1-4b7f-a48d-922aa67ec4ae"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element name="SharingHintHash" ma:index="14"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B625F8-7D36-42C8-9509-F88CCB2E5622}">
  <ds:schemaRefs>
    <ds:schemaRef ds:uri="http://purl.org/dc/terms/"/>
    <ds:schemaRef ds:uri="http://schemas.microsoft.com/office/2006/documentManagement/types"/>
    <ds:schemaRef ds:uri="f06884cb-4c3d-4659-be02-3fdee5466676"/>
    <ds:schemaRef ds:uri="http://schemas.openxmlformats.org/package/2006/metadata/core-properties"/>
    <ds:schemaRef ds:uri="http://purl.org/dc/elements/1.1/"/>
    <ds:schemaRef ds:uri="http://schemas.microsoft.com/office/infopath/2007/PartnerControls"/>
    <ds:schemaRef ds:uri="68a071d9-4ed1-4b7f-a48d-922aa67ec4ae"/>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93B3064D-2F72-4D54-A3B3-DDD3D05F2D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6884cb-4c3d-4659-be02-3fdee5466676"/>
    <ds:schemaRef ds:uri="68a071d9-4ed1-4b7f-a48d-922aa67ec4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F5B48F-9B37-40FE-B72A-28E1279F05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84</TotalTime>
  <Words>418</Words>
  <Application>Microsoft Office PowerPoint</Application>
  <PresentationFormat>Grand écran</PresentationFormat>
  <Paragraphs>58</Paragraphs>
  <Slides>13</Slides>
  <Notes>0</Notes>
  <HiddenSlides>0</HiddenSlides>
  <MMClips>1</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Arial</vt:lpstr>
      <vt:lpstr>Calibri</vt:lpstr>
      <vt:lpstr>Calibri Light</vt:lpstr>
      <vt:lpstr>Cambria</vt:lpstr>
      <vt:lpstr>Cambria Math</vt:lpstr>
      <vt:lpstr>Thème Office</vt:lpstr>
      <vt:lpstr>Suites, Séries numériques, Séries de Taylor, késako ?</vt:lpstr>
      <vt:lpstr>Suites | Approximer une racine carrée</vt:lpstr>
      <vt:lpstr>Suites | Problème de Collatz</vt:lpstr>
      <vt:lpstr>Séries numériques | Calculer l’aire sous la courbe</vt:lpstr>
      <vt:lpstr>Séries numériques | Calculer des intérêts composés</vt:lpstr>
      <vt:lpstr>Séries de Taylor | Définir π</vt:lpstr>
      <vt:lpstr>Séries de Taylor | Définir π</vt:lpstr>
      <vt:lpstr>Séries de Taylor | Définir π</vt:lpstr>
      <vt:lpstr>Séries de Taylor | Définir π</vt:lpstr>
      <vt:lpstr>Séries de Taylor | Approximer π</vt:lpstr>
      <vt:lpstr>Séries de Taylor | Approximer π</vt:lpstr>
      <vt:lpstr>Séries de Taylor | Approximer de solutions</vt:lpstr>
      <vt:lpstr>Suites | Fibonacci</vt:lpstr>
    </vt:vector>
  </TitlesOfParts>
  <Company>Cegep de Sherbrooke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Suites, séries, Taylor Késako ?</dc:title>
  <dc:creator>Bérubé, Sylvain</dc:creator>
  <cp:lastModifiedBy>Bérubé, Sylvain</cp:lastModifiedBy>
  <cp:revision>6</cp:revision>
  <dcterms:created xsi:type="dcterms:W3CDTF">2024-02-16T21:30:18Z</dcterms:created>
  <dcterms:modified xsi:type="dcterms:W3CDTF">2024-02-24T23:39:08Z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0x0101005150137AD91FE64DB8B269E256E7B102</vt:lpwstr>
  </property>
</Properties>
</file>